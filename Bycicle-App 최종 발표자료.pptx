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75" r:id="rId10"/>
    <p:sldId id="276" r:id="rId11"/>
    <p:sldId id="277" r:id="rId12"/>
    <p:sldId id="263" r:id="rId13"/>
    <p:sldId id="264" r:id="rId14"/>
    <p:sldId id="265" r:id="rId15"/>
    <p:sldId id="270" r:id="rId16"/>
    <p:sldId id="268" r:id="rId17"/>
    <p:sldId id="266" r:id="rId18"/>
    <p:sldId id="267" r:id="rId19"/>
    <p:sldId id="269" r:id="rId20"/>
    <p:sldId id="271" r:id="rId21"/>
    <p:sldId id="272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73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FAFAFA"/>
    <a:srgbClr val="F5F5F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E88497-003C-451A-A300-3D6BB78B5643}" v="88" dt="2025-12-15T11:23:23.022"/>
    <p1510:client id="{AE52C6F4-B306-46B0-A241-BDA8F1C71731}" v="1342" dt="2025-12-15T11:19:43.9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279" autoAdjust="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86875-E358-41FA-8A95-0645EB00096F}" type="datetimeFigureOut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EEA82-8299-49E2-9437-4607EF44F10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841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EEA82-8299-49E2-9437-4607EF44F105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6233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0314-0CCD-4E97-B0FA-0F9A4835760B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83D47-A7A4-4A3E-BA70-A9642306350D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DBA53-34BE-4504-A84A-95BCE7D680F6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C53C33-D48C-48D9-92D9-C4AB1675BB4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A10BC-F0B9-4D2F-9E39-5042C61990AD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6167-4EF7-4B74-9037-4EBBCEDA071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F0F1B-0DE3-4B47-89E2-71DAE88BADAA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9E5FF-E6CC-42F3-82D7-0F7B116F9FA8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FC3E9-DB6C-4966-A1CD-D658C8D4D856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C4572-AD9E-456B-8E07-05E9FAB2A904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29DEE7-02DE-4D94-A474-BE88686D1B95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2B143-2CAF-4743-88A1-9CBFA16B0282}" type="datetime1">
              <a:rPr lang="ko-KR" altLang="en-US" smtClean="0"/>
              <a:t>2025-12-17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27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2.xml"/><Relationship Id="rId5" Type="http://schemas.openxmlformats.org/officeDocument/2006/relationships/slide" Target="slide5.xml"/><Relationship Id="rId4" Type="http://schemas.openxmlformats.org/officeDocument/2006/relationships/slide" Target="slide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ev\teamproject\WBS_2025_12_05_&#52572;&#51333;.xlsx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dev\teamproject\&#44592;&#45733;&#47749;&#49464;&#49436;_2025-12-05_&#52572;&#51333;.xlsx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oleObject" Target="file:///C:\dev\teamproject\&#53580;&#51060;&#48660;&#47749;&#49464;&#49436;_2025-12-05_&#52572;&#51333;.docx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E5A349FE-8540-2743-A896-1EB2BA59E3F3}"/>
              </a:ext>
            </a:extLst>
          </p:cNvPr>
          <p:cNvSpPr/>
          <p:nvPr/>
        </p:nvSpPr>
        <p:spPr>
          <a:xfrm>
            <a:off x="-1259" y="0"/>
            <a:ext cx="12193259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각 삼각형 4">
            <a:extLst>
              <a:ext uri="{FF2B5EF4-FFF2-40B4-BE49-F238E27FC236}">
                <a16:creationId xmlns:a16="http://schemas.microsoft.com/office/drawing/2014/main" id="{4DBBEA64-22EB-50D8-A1DA-18119ACA0F55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33470" y="516435"/>
            <a:ext cx="9144000" cy="2387600"/>
          </a:xfrm>
        </p:spPr>
        <p:txBody>
          <a:bodyPr/>
          <a:lstStyle/>
          <a:p>
            <a:pPr algn="l"/>
            <a:r>
              <a:rPr lang="ko-KR" altLang="en-US" b="1" dirty="0" err="1">
                <a:solidFill>
                  <a:srgbClr val="0070C0"/>
                </a:solidFill>
                <a:ea typeface="맑은 고딕"/>
              </a:rPr>
              <a:t>TJG아카데미</a:t>
            </a:r>
            <a:r>
              <a:rPr lang="ko-KR" altLang="en-US" b="1" dirty="0">
                <a:solidFill>
                  <a:srgbClr val="0070C0"/>
                </a:solidFill>
                <a:ea typeface="맑은 고딕"/>
              </a:rPr>
              <a:t> 7기</a:t>
            </a:r>
            <a:br>
              <a:rPr lang="ko-KR" altLang="en-US" b="1" dirty="0">
                <a:solidFill>
                  <a:srgbClr val="0070C0"/>
                </a:solidFill>
                <a:ea typeface="맑은 고딕"/>
              </a:rPr>
            </a:br>
            <a:r>
              <a:rPr lang="ko-KR" altLang="en-US" b="1" dirty="0">
                <a:solidFill>
                  <a:srgbClr val="0070C0"/>
                </a:solidFill>
                <a:ea typeface="맑은 고딕"/>
              </a:rPr>
              <a:t>최종발표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33470" y="3341971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altLang="ko-KR" sz="2800" dirty="0">
                <a:solidFill>
                  <a:srgbClr val="0070C0"/>
                </a:solidFill>
                <a:latin typeface="+mj-lt"/>
              </a:rPr>
              <a:t>4</a:t>
            </a:r>
            <a:r>
              <a:rPr lang="ko-KR" altLang="en-US" sz="2800" dirty="0">
                <a:solidFill>
                  <a:srgbClr val="0070C0"/>
                </a:solidFill>
                <a:latin typeface="+mj-lt"/>
              </a:rPr>
              <a:t>팀 </a:t>
            </a:r>
            <a:r>
              <a:rPr lang="en-US" altLang="ko-KR" sz="2800" dirty="0">
                <a:solidFill>
                  <a:srgbClr val="0070C0"/>
                </a:solidFill>
                <a:latin typeface="+mj-lt"/>
              </a:rPr>
              <a:t>&lt;</a:t>
            </a:r>
            <a:r>
              <a:rPr lang="en-US" altLang="ko-KR" sz="2800" dirty="0" err="1">
                <a:solidFill>
                  <a:srgbClr val="0070C0"/>
                </a:solidFill>
                <a:latin typeface="+mj-lt"/>
              </a:rPr>
              <a:t>Bycicle</a:t>
            </a:r>
            <a:r>
              <a:rPr lang="en-US" altLang="ko-KR" sz="2800" dirty="0">
                <a:solidFill>
                  <a:srgbClr val="0070C0"/>
                </a:solidFill>
                <a:latin typeface="+mj-lt"/>
              </a:rPr>
              <a:t>-app&gt;</a:t>
            </a:r>
            <a:endParaRPr lang="ko-KR" altLang="en-US" sz="28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27EA7B-849B-0D06-9ED1-E1E728F5596E}"/>
              </a:ext>
            </a:extLst>
          </p:cNvPr>
          <p:cNvSpPr txBox="1"/>
          <p:nvPr/>
        </p:nvSpPr>
        <p:spPr>
          <a:xfrm>
            <a:off x="6096000" y="5251003"/>
            <a:ext cx="482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팀원 </a:t>
            </a:r>
            <a:r>
              <a:rPr lang="en-US" altLang="ko-KR" b="1" dirty="0">
                <a:solidFill>
                  <a:srgbClr val="0070C0"/>
                </a:solidFill>
              </a:rPr>
              <a:t>: </a:t>
            </a:r>
            <a:r>
              <a:rPr lang="ko-KR" altLang="en-US" dirty="0" err="1">
                <a:solidFill>
                  <a:srgbClr val="0070C0"/>
                </a:solidFill>
              </a:rPr>
              <a:t>성지석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en-US" dirty="0" err="1">
                <a:solidFill>
                  <a:srgbClr val="0070C0"/>
                </a:solidFill>
              </a:rPr>
              <a:t>강기종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en-US" dirty="0">
                <a:solidFill>
                  <a:srgbClr val="0070C0"/>
                </a:solidFill>
              </a:rPr>
              <a:t>조해성</a:t>
            </a:r>
            <a:r>
              <a:rPr lang="en-US" altLang="ko-KR" dirty="0">
                <a:solidFill>
                  <a:srgbClr val="0070C0"/>
                </a:solidFill>
              </a:rPr>
              <a:t>, </a:t>
            </a:r>
            <a:r>
              <a:rPr lang="ko-KR" altLang="en-US" dirty="0" err="1">
                <a:solidFill>
                  <a:srgbClr val="0070C0"/>
                </a:solidFill>
              </a:rPr>
              <a:t>황동주</a:t>
            </a:r>
            <a:r>
              <a:rPr lang="en-US" altLang="ko-KR" dirty="0">
                <a:solidFill>
                  <a:srgbClr val="0070C0"/>
                </a:solidFill>
              </a:rPr>
              <a:t>,</a:t>
            </a:r>
            <a:r>
              <a:rPr lang="ko-KR" altLang="en-US" dirty="0">
                <a:solidFill>
                  <a:srgbClr val="0070C0"/>
                </a:solidFill>
              </a:rPr>
              <a:t> </a:t>
            </a:r>
            <a:r>
              <a:rPr lang="ko-KR" altLang="en-US" dirty="0" err="1">
                <a:solidFill>
                  <a:srgbClr val="0070C0"/>
                </a:solidFill>
              </a:rPr>
              <a:t>권용빈</a:t>
            </a:r>
            <a:endParaRPr lang="ko-KR" altLang="en-US" dirty="0">
              <a:solidFill>
                <a:srgbClr val="0070C0"/>
              </a:solidFill>
            </a:endParaRPr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37A29CC6-05D5-0349-192D-811BC7951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5262AD-1E96-87C7-E5BC-09FE4218F7A4}"/>
              </a:ext>
            </a:extLst>
          </p:cNvPr>
          <p:cNvSpPr/>
          <p:nvPr/>
        </p:nvSpPr>
        <p:spPr>
          <a:xfrm>
            <a:off x="-1259" y="0"/>
            <a:ext cx="12193259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F1F93F6C-0BF7-4DFD-3B26-6E89B49F44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0175864"/>
              </p:ext>
            </p:extLst>
          </p:nvPr>
        </p:nvGraphicFramePr>
        <p:xfrm>
          <a:off x="276521" y="3921270"/>
          <a:ext cx="3366915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2" action="ppaction://hlinksldjump"/>
                        </a:rPr>
                        <a:t>4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2" action="ppaction://hlinksldjump"/>
                        </a:rPr>
                        <a:t>. 프로젝트 기능 설명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메인 화면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로그인 및 회원정보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구매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72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35660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CE83C69-8344-0E24-004C-C1C1232E0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2446826"/>
              </p:ext>
            </p:extLst>
          </p:nvPr>
        </p:nvGraphicFramePr>
        <p:xfrm>
          <a:off x="276523" y="1686352"/>
          <a:ext cx="3366915" cy="1569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3" action="ppaction://hlinksldjump"/>
                        </a:rPr>
                        <a:t>1. 개요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11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프로젝트 소개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</a:tbl>
          </a:graphicData>
        </a:graphic>
      </p:graphicFrame>
      <p:sp>
        <p:nvSpPr>
          <p:cNvPr id="2" name="제목 1">
            <a:extLst>
              <a:ext uri="{FF2B5EF4-FFF2-40B4-BE49-F238E27FC236}">
                <a16:creationId xmlns:a16="http://schemas.microsoft.com/office/drawing/2014/main" id="{CAA6EFC0-1B33-636E-FDE0-863ABBC76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ko-KR" altLang="en-US" sz="2800" b="1">
                <a:solidFill>
                  <a:srgbClr val="0070C0"/>
                </a:solidFill>
                <a:ea typeface="맑은 고딕"/>
              </a:rPr>
              <a:t>목차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420BF53-B675-6CC5-29C1-990461668B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1266729"/>
              </p:ext>
            </p:extLst>
          </p:nvPr>
        </p:nvGraphicFramePr>
        <p:xfrm>
          <a:off x="8548564" y="1680256"/>
          <a:ext cx="3366915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4" action="ppaction://hlinksldjump"/>
                        </a:rPr>
                        <a:t>3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4" action="ppaction://hlinksldjump"/>
                        </a:rPr>
                        <a:t>. 프로젝트 산출물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  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WBS(</a:t>
                      </a:r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작업 분할 구조도</a:t>
                      </a:r>
                      <a:r>
                        <a:rPr lang="en-US" altLang="ko-KR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기능명세서    </a:t>
                      </a:r>
                      <a:endParaRPr lang="en-US" altLang="ko-KR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altLang="ko-KR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</a:t>
                      </a: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테이블명세서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1F0FEBA4-E31D-A50C-F5D6-862DB74FF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572207"/>
              </p:ext>
            </p:extLst>
          </p:nvPr>
        </p:nvGraphicFramePr>
        <p:xfrm>
          <a:off x="4407848" y="1686352"/>
          <a:ext cx="3366915" cy="156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66915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5" action="ppaction://hlinksldjump"/>
                        </a:rPr>
                        <a:t>2. 프로젝트 설계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 </a:t>
                      </a:r>
                      <a:r>
                        <a:rPr lang="ko-KR" altLang="en-US" sz="1400" kern="1200" dirty="0">
                          <a:solidFill>
                            <a:schemeClr val="bg1">
                              <a:lumMod val="49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기술</a:t>
                      </a:r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스택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     개발 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sz="14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</a:tbl>
          </a:graphicData>
        </a:graphic>
      </p:graphicFrame>
      <p:sp>
        <p:nvSpPr>
          <p:cNvPr id="15" name="직사각형 14">
            <a:extLst>
              <a:ext uri="{FF2B5EF4-FFF2-40B4-BE49-F238E27FC236}">
                <a16:creationId xmlns:a16="http://schemas.microsoft.com/office/drawing/2014/main" id="{C507B853-1E88-CF7A-2C2D-DB7F9B811FC9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B098EF9-704D-25B2-1964-D6550290B4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593850"/>
              </p:ext>
            </p:extLst>
          </p:nvPr>
        </p:nvGraphicFramePr>
        <p:xfrm>
          <a:off x="4407848" y="3921270"/>
          <a:ext cx="3584009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09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6" action="ppaction://hlinksldjump"/>
                        </a:rPr>
                        <a:t>5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6" action="ppaction://hlinksldjump"/>
                        </a:rPr>
                        <a:t>. 프로젝트 다이어그램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메인 화면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9288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로그인 및 회원정보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55943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구매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3233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872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     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0356609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4A16103-AADA-7F61-548C-FDA69D7E2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9BE348F-FF40-BCF4-C21C-F4405C72D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8863473"/>
              </p:ext>
            </p:extLst>
          </p:nvPr>
        </p:nvGraphicFramePr>
        <p:xfrm>
          <a:off x="8440016" y="3921270"/>
          <a:ext cx="3584009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009">
                  <a:extLst>
                    <a:ext uri="{9D8B030D-6E8A-4147-A177-3AD203B41FA5}">
                      <a16:colId xmlns:a16="http://schemas.microsoft.com/office/drawing/2014/main" val="2836191623"/>
                    </a:ext>
                  </a:extLst>
                </a:gridCol>
              </a:tblGrid>
              <a:tr h="375780"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2400" b="0" dirty="0">
                          <a:solidFill>
                            <a:srgbClr val="0070C0"/>
                          </a:solidFill>
                          <a:hlinkClick r:id="rId7" action="ppaction://hlinksldjump"/>
                        </a:rPr>
                        <a:t>6</a:t>
                      </a:r>
                      <a:r>
                        <a:rPr lang="ko-KR" altLang="en-US" sz="2400" b="0" dirty="0">
                          <a:solidFill>
                            <a:srgbClr val="0070C0"/>
                          </a:solidFill>
                          <a:hlinkClick r:id="rId7" action="ppaction://hlinksldjump"/>
                        </a:rPr>
                        <a:t>. 시연 영상</a:t>
                      </a:r>
                      <a:endParaRPr lang="ko-KR" altLang="en-US" sz="2400" b="0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912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308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E376B2-7751-4BEE-9C64-F633EB78FA60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09A09F04-77E0-22D5-5C4D-0E02340FFDFD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C60E9F48-CF7E-86BF-422C-09CB94E31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164879"/>
              </p:ext>
            </p:extLst>
          </p:nvPr>
        </p:nvGraphicFramePr>
        <p:xfrm>
          <a:off x="633469" y="2028939"/>
          <a:ext cx="8168640" cy="2561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개요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프로젝트 소개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E47AA3F-43F5-C2CE-F545-1B04522E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93494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829D1-04E8-D33A-B1BA-2FA2FD486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7B29C9A-BD5A-5424-31BA-2130D98730D5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2D6404-7FF7-463F-F6FC-D4B1F756E78F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개요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FE4B31-4CBA-68FB-1DCC-BD0ED1E3F758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프로젝트 소개</a:t>
            </a:r>
            <a:endParaRPr lang="ko-KR" altLang="en-US" sz="1400" b="1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52014A-1DCB-29F2-A8D4-0AFB30EFBA05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68C41-CEA9-0805-C8D3-9CDC2A2254B5}"/>
              </a:ext>
            </a:extLst>
          </p:cNvPr>
          <p:cNvSpPr txBox="1"/>
          <p:nvPr/>
        </p:nvSpPr>
        <p:spPr>
          <a:xfrm>
            <a:off x="5943600" y="1854753"/>
            <a:ext cx="338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주요 컨셉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5B67BA-57BA-7E6D-FE47-475F61F6B392}"/>
              </a:ext>
            </a:extLst>
          </p:cNvPr>
          <p:cNvSpPr txBox="1"/>
          <p:nvPr/>
        </p:nvSpPr>
        <p:spPr>
          <a:xfrm>
            <a:off x="5943600" y="3429000"/>
            <a:ext cx="338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0070C0"/>
                </a:solidFill>
              </a:rPr>
              <a:t>컨셉 설명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C554F1E-1F41-CA4E-C45E-83A6EAD24A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358" y="1854753"/>
            <a:ext cx="3202750" cy="260223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9E3ED1-BE83-3197-F917-CFA412244A50}"/>
              </a:ext>
            </a:extLst>
          </p:cNvPr>
          <p:cNvSpPr txBox="1"/>
          <p:nvPr/>
        </p:nvSpPr>
        <p:spPr>
          <a:xfrm>
            <a:off x="5886451" y="2297303"/>
            <a:ext cx="60014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ko-KR" altLang="en-US" sz="1600" dirty="0"/>
              <a:t>자전거 전문 사이트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E2A2049-50D8-B243-FBA0-28F3BBA39E5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5330" y="5312357"/>
            <a:ext cx="958256" cy="85876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32C9FFA-8AF9-AE2E-7804-051AEFEE1E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0957" y="5324243"/>
            <a:ext cx="1150341" cy="84811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F204F1F-9513-310A-F762-C069ED778A5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526" y="5312357"/>
            <a:ext cx="958256" cy="935699"/>
          </a:xfrm>
          <a:prstGeom prst="rect">
            <a:avLst/>
          </a:prstGeom>
        </p:spPr>
      </p:pic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AA368C1-AEC7-86AD-D540-1AC76CD09411}"/>
              </a:ext>
            </a:extLst>
          </p:cNvPr>
          <p:cNvCxnSpPr>
            <a:cxnSpLocks/>
          </p:cNvCxnSpPr>
          <p:nvPr/>
        </p:nvCxnSpPr>
        <p:spPr>
          <a:xfrm>
            <a:off x="2861733" y="4371143"/>
            <a:ext cx="1503775" cy="743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7CF801DC-5A8C-5DC8-9467-1215B92E2DA5}"/>
              </a:ext>
            </a:extLst>
          </p:cNvPr>
          <p:cNvCxnSpPr>
            <a:cxnSpLocks/>
          </p:cNvCxnSpPr>
          <p:nvPr/>
        </p:nvCxnSpPr>
        <p:spPr>
          <a:xfrm flipH="1">
            <a:off x="1336558" y="4371143"/>
            <a:ext cx="1525175" cy="7436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9953C8CE-A9FC-0E99-F7AD-539FCAC0D3A5}"/>
              </a:ext>
            </a:extLst>
          </p:cNvPr>
          <p:cNvCxnSpPr>
            <a:cxnSpLocks/>
          </p:cNvCxnSpPr>
          <p:nvPr/>
        </p:nvCxnSpPr>
        <p:spPr>
          <a:xfrm>
            <a:off x="2861733" y="4371143"/>
            <a:ext cx="0" cy="7627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6AC8AF9A-4CC1-6606-A5E2-FC33BB08E0BF}"/>
              </a:ext>
            </a:extLst>
          </p:cNvPr>
          <p:cNvSpPr txBox="1"/>
          <p:nvPr/>
        </p:nvSpPr>
        <p:spPr>
          <a:xfrm>
            <a:off x="5886451" y="3891788"/>
            <a:ext cx="6001456" cy="226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</a:pPr>
            <a:r>
              <a:rPr lang="ko-KR" altLang="en-US" sz="1600" dirty="0"/>
              <a:t>자전거의 특정 한 분야만 하는 것이 아닌</a:t>
            </a:r>
            <a:r>
              <a:rPr lang="en-US" altLang="ko-KR" sz="1600" dirty="0"/>
              <a:t>,</a:t>
            </a:r>
            <a:br>
              <a:rPr lang="en-US" altLang="ko-KR" sz="1600" dirty="0"/>
            </a:br>
            <a:r>
              <a:rPr lang="ko-KR" altLang="en-US" sz="1600" dirty="0"/>
              <a:t>다양한 종류의 자전거를 판매하며</a:t>
            </a:r>
            <a:r>
              <a:rPr lang="en-US" altLang="ko-KR" sz="1600" dirty="0"/>
              <a:t> </a:t>
            </a:r>
            <a:r>
              <a:rPr lang="ko-KR" altLang="en-US" sz="1600" dirty="0"/>
              <a:t>가격 비교도 가능하고 </a:t>
            </a:r>
            <a:br>
              <a:rPr lang="en-US" altLang="ko-KR" sz="1600" dirty="0"/>
            </a:br>
            <a:r>
              <a:rPr lang="ko-KR" altLang="en-US" sz="1600" dirty="0"/>
              <a:t>급하게 자전거를 사용해야 하는 이용자를 위해 대여도 가능하며 자전거 여행을 준비하는 이를 위해 자전거로 갈 대표 여행지를 추천하기도 하는 자전거 전문 사이트를 만들고자 하였습니다</a:t>
            </a:r>
            <a:r>
              <a:rPr lang="en-US" altLang="ko-KR" sz="1600" dirty="0"/>
              <a:t>.</a:t>
            </a:r>
            <a:r>
              <a:rPr lang="ko-KR" altLang="en-US" sz="1600" dirty="0"/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DD050287-0588-FD32-31BA-D5B7FC4D9482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28A1BEDB-21D0-5934-7223-927FAE3AA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73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A2711-65D9-4676-FD4B-8BDA4190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55FF85AC-794F-8659-7E78-D62654958B6A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564F6B4F-AF43-B081-44F5-6F69487F10DC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DF2891C-FFAD-6066-42BC-2E8554C58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351133"/>
              </p:ext>
            </p:extLst>
          </p:nvPr>
        </p:nvGraphicFramePr>
        <p:xfrm>
          <a:off x="633469" y="2028939"/>
          <a:ext cx="8168640" cy="2535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02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설계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기술 스택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55ED860-0617-7B75-0BCB-6F3ED5254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6592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6166-82B6-7D11-EC29-CC45BC54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그림 55">
            <a:extLst>
              <a:ext uri="{FF2B5EF4-FFF2-40B4-BE49-F238E27FC236}">
                <a16:creationId xmlns:a16="http://schemas.microsoft.com/office/drawing/2014/main" id="{E5CAEA9E-ABEC-8EBE-1FE3-D8637927C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0892" y="4856373"/>
            <a:ext cx="982796" cy="98279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F0431DC2-CC73-5579-7E9A-E8354AEC9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66" y="2701148"/>
            <a:ext cx="1015505" cy="101550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1ED6C08-4876-6DDA-8A63-1891B9D7E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839" y="2735811"/>
            <a:ext cx="1003642" cy="1016676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95C3C572-1D77-E87E-DBFF-4A5E266FA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467" y="2701148"/>
            <a:ext cx="1003642" cy="107055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D42F7FB4-6C87-C7EA-7342-6E547E2E08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4235" y="2701148"/>
            <a:ext cx="1096985" cy="1070551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D47B4AF-5166-B7CE-6C48-D9A30355CBDD}"/>
              </a:ext>
            </a:extLst>
          </p:cNvPr>
          <p:cNvSpPr txBox="1"/>
          <p:nvPr/>
        </p:nvSpPr>
        <p:spPr>
          <a:xfrm>
            <a:off x="666227" y="3708996"/>
            <a:ext cx="810338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Java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script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B298EE-C740-89B4-7A3E-4D722FF6A1F8}"/>
              </a:ext>
            </a:extLst>
          </p:cNvPr>
          <p:cNvSpPr txBox="1"/>
          <p:nvPr/>
        </p:nvSpPr>
        <p:spPr>
          <a:xfrm>
            <a:off x="1756005" y="3708995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React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70288EF-9213-8E57-E7CD-0476DD5C47A7}"/>
              </a:ext>
            </a:extLst>
          </p:cNvPr>
          <p:cNvSpPr txBox="1"/>
          <p:nvPr/>
        </p:nvSpPr>
        <p:spPr>
          <a:xfrm>
            <a:off x="4447072" y="3708994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Axios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3DA4DBE-22F1-B114-E444-1EF63BA9A9F0}"/>
              </a:ext>
            </a:extLst>
          </p:cNvPr>
          <p:cNvSpPr txBox="1"/>
          <p:nvPr/>
        </p:nvSpPr>
        <p:spPr>
          <a:xfrm>
            <a:off x="3136619" y="3708995"/>
            <a:ext cx="103130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Redux Toolkit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E3A167A-AD0D-F631-9726-AFABEA30DBB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A3605-44F9-2B47-6DE1-74D4D53CA31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설계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9AB39-79DB-4018-EA40-50ADE25411C0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기술 스택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06B1E7-B7BF-E9FF-FF38-DED4D5846391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BB8D24-2A0B-D08A-1FDE-0EE92C76C53C}"/>
              </a:ext>
            </a:extLst>
          </p:cNvPr>
          <p:cNvSpPr txBox="1"/>
          <p:nvPr/>
        </p:nvSpPr>
        <p:spPr>
          <a:xfrm>
            <a:off x="6519443" y="2273422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개발 언어 / 라이브러리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FBEB0-EDC4-1932-3555-8083EB167E5D}"/>
              </a:ext>
            </a:extLst>
          </p:cNvPr>
          <p:cNvSpPr txBox="1"/>
          <p:nvPr/>
        </p:nvSpPr>
        <p:spPr>
          <a:xfrm>
            <a:off x="6519442" y="4329904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DB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086C84-B4E2-8308-5A03-550760E27DA0}"/>
              </a:ext>
            </a:extLst>
          </p:cNvPr>
          <p:cNvSpPr txBox="1"/>
          <p:nvPr/>
        </p:nvSpPr>
        <p:spPr>
          <a:xfrm>
            <a:off x="8704455" y="1722579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BE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A46E21-947B-FD1F-C5F4-9E90B806C3E3}"/>
              </a:ext>
            </a:extLst>
          </p:cNvPr>
          <p:cNvSpPr txBox="1"/>
          <p:nvPr/>
        </p:nvSpPr>
        <p:spPr>
          <a:xfrm>
            <a:off x="313271" y="2273420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개발 언어 / 라이브러리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1C66E01-C261-B78A-B4F4-A32CCC7AAA27}"/>
              </a:ext>
            </a:extLst>
          </p:cNvPr>
          <p:cNvSpPr/>
          <p:nvPr/>
        </p:nvSpPr>
        <p:spPr>
          <a:xfrm>
            <a:off x="309375" y="2661526"/>
            <a:ext cx="5369846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BE540F-3E10-FC85-B86A-DD53C04C9C9E}"/>
              </a:ext>
            </a:extLst>
          </p:cNvPr>
          <p:cNvSpPr txBox="1"/>
          <p:nvPr/>
        </p:nvSpPr>
        <p:spPr>
          <a:xfrm>
            <a:off x="2498285" y="1722578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FE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D4074E1-62C5-26C7-78A7-09B24D4A635E}"/>
              </a:ext>
            </a:extLst>
          </p:cNvPr>
          <p:cNvSpPr/>
          <p:nvPr/>
        </p:nvSpPr>
        <p:spPr>
          <a:xfrm flipH="1">
            <a:off x="6092981" y="1902674"/>
            <a:ext cx="7797" cy="4307268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486ACD-A067-E769-8AF7-486667F28F2A}"/>
              </a:ext>
            </a:extLst>
          </p:cNvPr>
          <p:cNvSpPr txBox="1"/>
          <p:nvPr/>
        </p:nvSpPr>
        <p:spPr>
          <a:xfrm>
            <a:off x="304090" y="4329901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ea typeface="맑은 고딕"/>
              </a:rPr>
              <a:t>코드 규격 / 스타일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9D86257-8D5D-376D-9992-60868B1E08B9}"/>
              </a:ext>
            </a:extLst>
          </p:cNvPr>
          <p:cNvSpPr/>
          <p:nvPr/>
        </p:nvSpPr>
        <p:spPr>
          <a:xfrm>
            <a:off x="309375" y="4718007"/>
            <a:ext cx="1513943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4B41EFF-96EA-92D4-760A-0B6A5D479224}"/>
              </a:ext>
            </a:extLst>
          </p:cNvPr>
          <p:cNvSpPr/>
          <p:nvPr/>
        </p:nvSpPr>
        <p:spPr>
          <a:xfrm>
            <a:off x="6515544" y="2689067"/>
            <a:ext cx="5369846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0E7B419D-4FFA-0080-DA03-845982894E07}"/>
              </a:ext>
            </a:extLst>
          </p:cNvPr>
          <p:cNvSpPr/>
          <p:nvPr/>
        </p:nvSpPr>
        <p:spPr>
          <a:xfrm>
            <a:off x="6515544" y="4718006"/>
            <a:ext cx="1495581" cy="148627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ADE3B659-E599-C682-86EF-F805280DAD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366" y="2742783"/>
            <a:ext cx="1042108" cy="102891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5C6E425E-010F-2DE6-2741-0A580CF57C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32306" y="2746782"/>
            <a:ext cx="1011433" cy="1024917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9F5AE08-D2EE-0DEB-193B-DC4F003CEE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9058" y="2767052"/>
            <a:ext cx="1015814" cy="980378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D5243B45-0D19-74CC-3FE0-FFFA73E7FF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28536" y="2724929"/>
            <a:ext cx="1040152" cy="106462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9FAEED5F-4FCA-F917-3D58-2FD8EB7D1C88}"/>
              </a:ext>
            </a:extLst>
          </p:cNvPr>
          <p:cNvSpPr txBox="1"/>
          <p:nvPr/>
        </p:nvSpPr>
        <p:spPr>
          <a:xfrm>
            <a:off x="6948543" y="3722088"/>
            <a:ext cx="457201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Java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B87375C-3B09-9461-7521-C3A90671948C}"/>
              </a:ext>
            </a:extLst>
          </p:cNvPr>
          <p:cNvSpPr txBox="1"/>
          <p:nvPr/>
        </p:nvSpPr>
        <p:spPr>
          <a:xfrm>
            <a:off x="7918807" y="3722087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Spring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 </a:t>
            </a:r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Boot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F336F0-915C-0238-9486-14A032155808}"/>
              </a:ext>
            </a:extLst>
          </p:cNvPr>
          <p:cNvSpPr txBox="1"/>
          <p:nvPr/>
        </p:nvSpPr>
        <p:spPr>
          <a:xfrm>
            <a:off x="9283563" y="3722087"/>
            <a:ext cx="103130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Spring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 Data</a:t>
            </a:r>
          </a:p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Jpa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C2279E-A708-D034-2F89-DC724006F402}"/>
              </a:ext>
            </a:extLst>
          </p:cNvPr>
          <p:cNvSpPr txBox="1"/>
          <p:nvPr/>
        </p:nvSpPr>
        <p:spPr>
          <a:xfrm>
            <a:off x="10637379" y="3722086"/>
            <a:ext cx="103130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Spring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  <a:p>
            <a:pPr algn="ctr"/>
            <a:r>
              <a:rPr lang="ko-KR" altLang="en-US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Security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6CC44C-9C82-281D-5803-355A9A326612}"/>
              </a:ext>
            </a:extLst>
          </p:cNvPr>
          <p:cNvSpPr txBox="1"/>
          <p:nvPr/>
        </p:nvSpPr>
        <p:spPr>
          <a:xfrm>
            <a:off x="6736636" y="5806111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My</a:t>
            </a:r>
            <a:r>
              <a:rPr lang="ko-KR" altLang="en-US" sz="1100" dirty="0">
                <a:solidFill>
                  <a:schemeClr val="bg1">
                    <a:lumMod val="50000"/>
                  </a:schemeClr>
                </a:solidFill>
                <a:ea typeface="맑은 고딕"/>
              </a:rPr>
              <a:t>SQL</a:t>
            </a: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D392D52E-E2A4-9264-A9BB-3B87A6A5617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9464" y="4860745"/>
            <a:ext cx="960708" cy="97405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9AC77A51-27B5-E362-4851-8EE7209B47CE}"/>
              </a:ext>
            </a:extLst>
          </p:cNvPr>
          <p:cNvSpPr txBox="1"/>
          <p:nvPr/>
        </p:nvSpPr>
        <p:spPr>
          <a:xfrm>
            <a:off x="564163" y="5806111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 err="1">
                <a:solidFill>
                  <a:schemeClr val="bg1">
                    <a:lumMod val="50000"/>
                  </a:schemeClr>
                </a:solidFill>
                <a:ea typeface="맑은 고딕"/>
              </a:rPr>
              <a:t>ESLint</a:t>
            </a:r>
            <a:endParaRPr lang="ko-KR" altLang="en-US" sz="1100" dirty="0">
              <a:solidFill>
                <a:schemeClr val="bg1">
                  <a:lumMod val="50000"/>
                </a:schemeClr>
              </a:solidFill>
              <a:ea typeface="맑은 고딕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8C4BBAB-DA9C-9838-351B-9748156E5FB7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2">
            <a:extLst>
              <a:ext uri="{FF2B5EF4-FFF2-40B4-BE49-F238E27FC236}">
                <a16:creationId xmlns:a16="http://schemas.microsoft.com/office/drawing/2014/main" id="{6DF13CDE-7B59-1DB6-1654-1EC59038C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6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2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16166-82B6-7D11-EC29-CC45BC54C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E3A167A-AD0D-F631-9726-AFABEA30DBB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8A3605-44F9-2B47-6DE1-74D4D53CA31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설계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B9AB39-79DB-4018-EA40-50ADE25411C0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>
                <a:solidFill>
                  <a:schemeClr val="bg1">
                    <a:lumMod val="49000"/>
                  </a:schemeClr>
                </a:solidFill>
                <a:ea typeface="맑은 고딕"/>
              </a:rPr>
              <a:t>개발 툴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E06B1E7-B7BF-E9FF-FF38-DED4D5846391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B1C66E01-C261-B78A-B4F4-A32CCC7AAA27}"/>
              </a:ext>
            </a:extLst>
          </p:cNvPr>
          <p:cNvSpPr/>
          <p:nvPr/>
        </p:nvSpPr>
        <p:spPr>
          <a:xfrm>
            <a:off x="437905" y="3872191"/>
            <a:ext cx="3350087" cy="163505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79A9CC-E012-FA23-D4EB-1D75C7F056CE}"/>
              </a:ext>
            </a:extLst>
          </p:cNvPr>
          <p:cNvSpPr/>
          <p:nvPr/>
        </p:nvSpPr>
        <p:spPr>
          <a:xfrm>
            <a:off x="4422338" y="3872190"/>
            <a:ext cx="3350087" cy="1635050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6A69414-E357-7A35-4362-3A929974560E}"/>
              </a:ext>
            </a:extLst>
          </p:cNvPr>
          <p:cNvSpPr/>
          <p:nvPr/>
        </p:nvSpPr>
        <p:spPr>
          <a:xfrm>
            <a:off x="8406772" y="3872188"/>
            <a:ext cx="3350087" cy="1635051"/>
          </a:xfrm>
          <a:prstGeom prst="roundRect">
            <a:avLst/>
          </a:prstGeom>
          <a:noFill/>
          <a:ln w="12700">
            <a:solidFill>
              <a:srgbClr val="0070C0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48BB66-21D2-046B-79BB-2A625853E3A5}"/>
              </a:ext>
            </a:extLst>
          </p:cNvPr>
          <p:cNvSpPr txBox="1"/>
          <p:nvPr/>
        </p:nvSpPr>
        <p:spPr>
          <a:xfrm>
            <a:off x="1616936" y="3429001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FE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3A8B64-D799-378A-EAA6-C29C55158C83}"/>
              </a:ext>
            </a:extLst>
          </p:cNvPr>
          <p:cNvSpPr txBox="1"/>
          <p:nvPr/>
        </p:nvSpPr>
        <p:spPr>
          <a:xfrm>
            <a:off x="5592188" y="3429001"/>
            <a:ext cx="998863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>
                <a:solidFill>
                  <a:srgbClr val="0070C0"/>
                </a:solidFill>
                <a:ea typeface="맑은 고딕"/>
              </a:rPr>
              <a:t>BE</a:t>
            </a:r>
            <a:endParaRPr lang="ko-KR" b="1">
              <a:solidFill>
                <a:srgbClr val="0070C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60C60D-6E15-B926-5F6C-6EC270C46929}"/>
              </a:ext>
            </a:extLst>
          </p:cNvPr>
          <p:cNvSpPr txBox="1"/>
          <p:nvPr/>
        </p:nvSpPr>
        <p:spPr>
          <a:xfrm>
            <a:off x="9218574" y="3429000"/>
            <a:ext cx="1733319" cy="369332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b="1" err="1">
                <a:solidFill>
                  <a:srgbClr val="0070C0"/>
                </a:solidFill>
                <a:ea typeface="맑은 고딕"/>
              </a:rPr>
              <a:t>Teanwork</a:t>
            </a:r>
            <a:endParaRPr lang="ko-KR" b="1" err="1">
              <a:solidFill>
                <a:srgbClr val="0070C0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5318124-5772-2222-6EE4-6A833ABD9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185" y="4074811"/>
            <a:ext cx="964474" cy="97805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A7D382-80C9-1C8B-C9F3-84E1A4B84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860" y="4070114"/>
            <a:ext cx="988574" cy="98857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4E2CAA9C-B5AE-5943-3588-E81A04AD20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1275" y="4060168"/>
            <a:ext cx="992024" cy="10058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3BE1A48-086D-60F3-49A2-E037B4E6B4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3658" y="4005068"/>
            <a:ext cx="998874" cy="105436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F7BA43B-600B-EA52-429D-843D7D6EC3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7585" y="4021670"/>
            <a:ext cx="997230" cy="103878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4B8D812-A400-4DC9-98B7-0B9E12838F46}"/>
              </a:ext>
            </a:extLst>
          </p:cNvPr>
          <p:cNvSpPr txBox="1"/>
          <p:nvPr/>
        </p:nvSpPr>
        <p:spPr>
          <a:xfrm>
            <a:off x="853767" y="5058385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VSCode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D40EAED-C296-6B70-CE10-9108572C4B3D}"/>
              </a:ext>
            </a:extLst>
          </p:cNvPr>
          <p:cNvSpPr txBox="1"/>
          <p:nvPr/>
        </p:nvSpPr>
        <p:spPr>
          <a:xfrm>
            <a:off x="4851492" y="5065968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IntelliJ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CF25687-F528-34C9-5DCE-00CCC9ACD2A5}"/>
              </a:ext>
            </a:extLst>
          </p:cNvPr>
          <p:cNvSpPr txBox="1"/>
          <p:nvPr/>
        </p:nvSpPr>
        <p:spPr>
          <a:xfrm>
            <a:off x="6281632" y="5065968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Spring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4ED10E-7084-B492-BB80-47C11D129472}"/>
              </a:ext>
            </a:extLst>
          </p:cNvPr>
          <p:cNvSpPr txBox="1"/>
          <p:nvPr/>
        </p:nvSpPr>
        <p:spPr>
          <a:xfrm>
            <a:off x="8901415" y="5052869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Notion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541BE1-F373-B04F-0F73-8916C108860B}"/>
              </a:ext>
            </a:extLst>
          </p:cNvPr>
          <p:cNvSpPr txBox="1"/>
          <p:nvPr/>
        </p:nvSpPr>
        <p:spPr>
          <a:xfrm>
            <a:off x="10290545" y="5052869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Github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6465499-6728-3468-1252-3CFE232364C7}"/>
              </a:ext>
            </a:extLst>
          </p:cNvPr>
          <p:cNvGrpSpPr/>
          <p:nvPr/>
        </p:nvGrpSpPr>
        <p:grpSpPr>
          <a:xfrm>
            <a:off x="2295956" y="4067825"/>
            <a:ext cx="964474" cy="978058"/>
            <a:chOff x="1693915" y="2736214"/>
            <a:chExt cx="964474" cy="978058"/>
          </a:xfrm>
        </p:grpSpPr>
        <p:pic>
          <p:nvPicPr>
            <p:cNvPr id="31" name="그림 30">
              <a:extLst>
                <a:ext uri="{FF2B5EF4-FFF2-40B4-BE49-F238E27FC236}">
                  <a16:creationId xmlns:a16="http://schemas.microsoft.com/office/drawing/2014/main" id="{BA5E1520-8F19-1E5D-0037-03486BC1F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93915" y="2736214"/>
              <a:ext cx="964474" cy="97805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5506D5F3-057C-F43F-5525-FF06F3DECF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3710" y="2919653"/>
              <a:ext cx="584690" cy="584688"/>
            </a:xfrm>
            <a:prstGeom prst="rect">
              <a:avLst/>
            </a:prstGeom>
          </p:spPr>
        </p:pic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D6DA7461-CA08-D1C2-F6A0-710A838EE454}"/>
              </a:ext>
            </a:extLst>
          </p:cNvPr>
          <p:cNvSpPr txBox="1"/>
          <p:nvPr/>
        </p:nvSpPr>
        <p:spPr>
          <a:xfrm>
            <a:off x="2262539" y="5052869"/>
            <a:ext cx="1031309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ko-KR" sz="11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Node.js</a:t>
            </a:r>
            <a:endParaRPr lang="ko-KR" altLang="en-US" sz="11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B7886D9-4CD2-A1FA-DB76-A8BEEEC125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6579" y="2428520"/>
            <a:ext cx="969220" cy="93194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F6CE2A90-A375-554D-4FE4-B3CF5E84B0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07009" y="2344322"/>
            <a:ext cx="969219" cy="95058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6B79C4CE-2075-5F3F-E3AD-6F7D0A54E0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51286" y="2319692"/>
            <a:ext cx="1061058" cy="999840"/>
          </a:xfrm>
          <a:prstGeom prst="rect">
            <a:avLst/>
          </a:prstGeom>
        </p:spPr>
      </p:pic>
      <p:sp>
        <p:nvSpPr>
          <p:cNvPr id="43" name="직사각형 42">
            <a:extLst>
              <a:ext uri="{FF2B5EF4-FFF2-40B4-BE49-F238E27FC236}">
                <a16:creationId xmlns:a16="http://schemas.microsoft.com/office/drawing/2014/main" id="{96C40D36-8E52-AF3B-5CDA-3918DBD62879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슬라이드 번호 개체 틀 2">
            <a:extLst>
              <a:ext uri="{FF2B5EF4-FFF2-40B4-BE49-F238E27FC236}">
                <a16:creationId xmlns:a16="http://schemas.microsoft.com/office/drawing/2014/main" id="{D3BAA236-C7B9-71E7-3B1F-9E00A73C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7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017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52A2C-4F7C-7B84-75A0-135FA159A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14F28F-3493-53A4-30D8-360E9FF68852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C072D04A-6018-13DC-7184-56C5BF7E00C9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E1A371C-A0E2-B547-95EE-0101F9D5E2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758982"/>
              </p:ext>
            </p:extLst>
          </p:nvPr>
        </p:nvGraphicFramePr>
        <p:xfrm>
          <a:off x="633469" y="2028939"/>
          <a:ext cx="8168640" cy="2535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3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산출물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기술 스택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2A48EA3-4CF4-7297-7B2A-F453B5F98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1803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13974656-9DE8-E067-B8EB-6BFD779E40FA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51012C-A778-950D-E45E-D5F68AD9C535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산출물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8954C6-B647-DECE-B5F9-3D00635B500E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WBS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작업 분할 구조도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DFC0C4-0A03-90F6-871E-1E78B63CE639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6DF135-4B8D-D3B0-7768-9F2C21CEBC0A}"/>
              </a:ext>
            </a:extLst>
          </p:cNvPr>
          <p:cNvSpPr txBox="1"/>
          <p:nvPr/>
        </p:nvSpPr>
        <p:spPr>
          <a:xfrm>
            <a:off x="2273808" y="5953385"/>
            <a:ext cx="3822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파일별 기능 설명 및 경로</a:t>
            </a:r>
            <a:r>
              <a:rPr lang="en-US" altLang="ko-KR" sz="1400" dirty="0"/>
              <a:t>, </a:t>
            </a:r>
            <a:r>
              <a:rPr lang="ko-KR" altLang="en-US" sz="1400" dirty="0"/>
              <a:t>참조 </a:t>
            </a:r>
            <a:r>
              <a:rPr lang="en-US" altLang="ko-KR" sz="1400" dirty="0"/>
              <a:t>BE</a:t>
            </a:r>
            <a:r>
              <a:rPr lang="ko-KR" altLang="en-US" sz="1400" dirty="0"/>
              <a:t> 작성</a:t>
            </a:r>
            <a:endParaRPr lang="en-US" altLang="ko-KR" sz="1400" dirty="0"/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201BA242-462D-E16E-574F-BDB5D720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65" y="1507934"/>
            <a:ext cx="10366664" cy="4297680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BA579471-7DB3-A240-6749-A64EC9B01F0E}"/>
              </a:ext>
            </a:extLst>
          </p:cNvPr>
          <p:cNvSpPr txBox="1"/>
          <p:nvPr/>
        </p:nvSpPr>
        <p:spPr>
          <a:xfrm>
            <a:off x="8068056" y="5962919"/>
            <a:ext cx="1917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작업 진척도 표시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D49693FB-77A9-9BF3-E3E3-64F996F12F2A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20C45C2A-1078-C166-52BA-577B33C49B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0584459"/>
              </p:ext>
            </p:extLst>
          </p:nvPr>
        </p:nvGraphicFramePr>
        <p:xfrm>
          <a:off x="10276629" y="50154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71525" progId="Excel.Sheet.12">
                  <p:link updateAutomatic="1"/>
                </p:oleObj>
              </mc:Choice>
              <mc:Fallback>
                <p:oleObj name="Worksheet" showAsIcon="1" r:id="rId3" imgW="914400" imgH="7715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76629" y="50154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8048DB05-1AB7-49BB-8D9F-6A70AD0B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9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5343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7DC5B-C9CC-4698-1033-5E64077E8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7A508B54-9236-3B68-8BA3-9AC74E6686D5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AAE2F9B-0E28-0AB1-1B02-5BB3487016A3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산출물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E68D9C-0795-BEFD-82B8-F6813AF21792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기능명세서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61896B4-95CA-ACF0-05D3-6597BF9FABF5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59ED309-70FF-88DD-D421-A29F492CA7FB}"/>
              </a:ext>
            </a:extLst>
          </p:cNvPr>
          <p:cNvSpPr txBox="1"/>
          <p:nvPr/>
        </p:nvSpPr>
        <p:spPr>
          <a:xfrm>
            <a:off x="4184903" y="5953384"/>
            <a:ext cx="38221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기능 단계별 사용 파일 및 기능 정의</a:t>
            </a:r>
            <a:endParaRPr lang="en-US" altLang="ko-KR" sz="1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1056EFF-D240-757D-4E5C-C4DAC2D413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943" y="1447296"/>
            <a:ext cx="8708113" cy="4418955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C79202ED-BF52-37FA-29EB-1D776602F3DB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37EED6BE-7BB9-0B2E-F83D-622C10F8C8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08185"/>
              </p:ext>
            </p:extLst>
          </p:nvPr>
        </p:nvGraphicFramePr>
        <p:xfrm>
          <a:off x="9535656" y="501543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3" imgW="914400" imgH="771525" progId="Excel.Sheet.12">
                  <p:link updateAutomatic="1"/>
                </p:oleObj>
              </mc:Choice>
              <mc:Fallback>
                <p:oleObj name="Worksheet" showAsIcon="1" r:id="rId3" imgW="914400" imgH="771525" progId="Excel.Shee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35656" y="501543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슬라이드 번호 개체 틀 2">
            <a:extLst>
              <a:ext uri="{FF2B5EF4-FFF2-40B4-BE49-F238E27FC236}">
                <a16:creationId xmlns:a16="http://schemas.microsoft.com/office/drawing/2014/main" id="{42283F85-4601-DC0C-62AD-7E6927577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10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753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485D4-3CFC-DCAA-EABD-2246C8B04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3782C5-4310-E1D0-DE90-0DEA68247A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027" y="1444621"/>
            <a:ext cx="5055152" cy="4331956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1165A5F-6EC6-98CB-16BA-8CB39CFBC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178" y="1444620"/>
            <a:ext cx="5013795" cy="4334845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DE5876E-596B-82B4-0EC8-EDDAD57B75A8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99D93B-BDDE-4E9A-03A6-D3427AD58141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산출물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379E41-6E0C-C9D6-B9D7-2C351B3A1067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테이블명세서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1764EB-28D2-87DB-6BD1-3D69FBB90438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6A4C834-4356-1C97-B85F-06875EC56F19}"/>
              </a:ext>
            </a:extLst>
          </p:cNvPr>
          <p:cNvSpPr txBox="1"/>
          <p:nvPr/>
        </p:nvSpPr>
        <p:spPr>
          <a:xfrm>
            <a:off x="2737903" y="5894897"/>
            <a:ext cx="1487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</a:t>
            </a:r>
            <a:r>
              <a:rPr lang="ko-KR" altLang="en-US" sz="1400" dirty="0"/>
              <a:t>테이블 명세서</a:t>
            </a:r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DE783A-5D61-8868-A80A-D7F103912F8E}"/>
              </a:ext>
            </a:extLst>
          </p:cNvPr>
          <p:cNvSpPr txBox="1"/>
          <p:nvPr/>
        </p:nvSpPr>
        <p:spPr>
          <a:xfrm>
            <a:off x="7320149" y="5889647"/>
            <a:ext cx="31954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- SQL, </a:t>
            </a:r>
            <a:r>
              <a:rPr lang="ko-KR" altLang="en-US" sz="1400" dirty="0"/>
              <a:t>테이블 내용 이미지 표시</a:t>
            </a:r>
            <a:endParaRPr lang="en-US" altLang="ko-KR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267EE5-B1C3-2774-8558-1CA91B245905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2" name="개체 1">
            <a:extLst>
              <a:ext uri="{FF2B5EF4-FFF2-40B4-BE49-F238E27FC236}">
                <a16:creationId xmlns:a16="http://schemas.microsoft.com/office/drawing/2014/main" id="{DD1E7794-801B-5D25-AAD7-C7C3BCCDE5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0374544"/>
              </p:ext>
            </p:extLst>
          </p:nvPr>
        </p:nvGraphicFramePr>
        <p:xfrm>
          <a:off x="10323573" y="469864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문서" showAsIcon="1" r:id="rId4" imgW="914400" imgH="771525" progId="Word.Document.12">
                  <p:link updateAutomatic="1"/>
                </p:oleObj>
              </mc:Choice>
              <mc:Fallback>
                <p:oleObj name="문서" showAsIcon="1" r:id="rId4" imgW="914400" imgH="771525" progId="Word.Document.12">
                  <p:link updateAutomatic="1"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323573" y="469864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0DE6957F-923B-0B10-30FF-5264E057E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11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99816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0220-31BA-D652-EE3E-9985C8307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343224DF-F797-DE2B-ED1E-F5638E90F0D6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B5E92501-C263-9A36-A752-D879695F3978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0057E875-3CBF-D23A-B749-8FA2DD91F3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517952"/>
              </p:ext>
            </p:extLst>
          </p:nvPr>
        </p:nvGraphicFramePr>
        <p:xfrm>
          <a:off x="633469" y="2028939"/>
          <a:ext cx="8168640" cy="3648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4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기능 설명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메인 화면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로그인 및 회원정보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구매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73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02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2530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AB0B59F-F3C0-5B07-0E25-FAD97FCD0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9631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54B3B293-FDC4-FEE3-934F-088B7C93A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1684511"/>
            <a:ext cx="8937356" cy="4354341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B49C6C4-9730-7E31-1A10-9A1DFB9CAE29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93512-0734-66CA-4A35-191599710814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1C3D54-E72C-0932-4826-7769154C052D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2E44E6A-E79C-976E-EC28-C02EDC08EF60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C98F02F2-3DFF-25E5-4771-299F2B4B6668}"/>
              </a:ext>
            </a:extLst>
          </p:cNvPr>
          <p:cNvSpPr/>
          <p:nvPr/>
        </p:nvSpPr>
        <p:spPr>
          <a:xfrm>
            <a:off x="179213" y="1939919"/>
            <a:ext cx="8937356" cy="4098933"/>
          </a:xfrm>
          <a:prstGeom prst="roundRect">
            <a:avLst>
              <a:gd name="adj" fmla="val 1714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C18982-116C-0591-5333-EBF1622BE5EE}"/>
              </a:ext>
            </a:extLst>
          </p:cNvPr>
          <p:cNvSpPr txBox="1"/>
          <p:nvPr/>
        </p:nvSpPr>
        <p:spPr>
          <a:xfrm>
            <a:off x="9272016" y="1939919"/>
            <a:ext cx="291998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여행지 추천 메뉴를 클릭 시</a:t>
            </a:r>
            <a:endParaRPr lang="en-US" altLang="ko-KR" sz="1400" dirty="0"/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①</a:t>
            </a:r>
            <a:r>
              <a:rPr lang="ko-KR" altLang="en-US" sz="1400" dirty="0"/>
              <a:t> 지도 및 대표 여행지 마커 출력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0636EEE-FEDB-4802-7E44-040EA2417C29}"/>
              </a:ext>
            </a:extLst>
          </p:cNvPr>
          <p:cNvSpPr txBox="1"/>
          <p:nvPr/>
        </p:nvSpPr>
        <p:spPr>
          <a:xfrm>
            <a:off x="960120" y="161848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284C450-2A6D-C99C-FD62-C676F26006A6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77E9BDB-A35D-764A-3E6F-8AE5B5961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13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1654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158703DD-17A8-F45C-7DE7-7AA2666BB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1682496"/>
            <a:ext cx="8937356" cy="4272355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2374934E-169D-B7AD-CF5C-085F56CC6872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765E2A-E700-96F8-F67F-95A92B2917C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81299C-10A8-EA23-E493-D3AAE9A77A18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384A446D-6053-9327-1DB3-94DACFCBBE2D}"/>
              </a:ext>
            </a:extLst>
          </p:cNvPr>
          <p:cNvSpPr/>
          <p:nvPr/>
        </p:nvSpPr>
        <p:spPr>
          <a:xfrm>
            <a:off x="179212" y="1905263"/>
            <a:ext cx="1128380" cy="241197"/>
          </a:xfrm>
          <a:prstGeom prst="roundRect">
            <a:avLst>
              <a:gd name="adj" fmla="val 1461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5613C8-77D1-37B9-7FB7-792F0C4175C1}"/>
              </a:ext>
            </a:extLst>
          </p:cNvPr>
          <p:cNvSpPr txBox="1"/>
          <p:nvPr/>
        </p:nvSpPr>
        <p:spPr>
          <a:xfrm>
            <a:off x="996696" y="1600200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20CC736-75B3-FFF2-E599-974BF1917016}"/>
              </a:ext>
            </a:extLst>
          </p:cNvPr>
          <p:cNvSpPr txBox="1"/>
          <p:nvPr/>
        </p:nvSpPr>
        <p:spPr>
          <a:xfrm>
            <a:off x="9272016" y="1939919"/>
            <a:ext cx="29199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대표 여행지 클릭 시</a:t>
            </a:r>
            <a:endParaRPr lang="en-US" altLang="ko-KR" sz="1400" dirty="0"/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dirty="0"/>
              <a:t>해당 마커로 지도 확대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dirty="0"/>
              <a:t>메뉴</a:t>
            </a:r>
            <a:r>
              <a:rPr lang="en-US" altLang="ko-KR" sz="1400" dirty="0"/>
              <a:t>(</a:t>
            </a:r>
            <a:r>
              <a:rPr lang="ko-KR" altLang="en-US" sz="1400" dirty="0"/>
              <a:t>맛집</a:t>
            </a:r>
            <a:r>
              <a:rPr lang="en-US" altLang="ko-KR" sz="1400" dirty="0"/>
              <a:t>, </a:t>
            </a:r>
            <a:r>
              <a:rPr lang="ko-KR" altLang="en-US" sz="1400" dirty="0"/>
              <a:t>숙소</a:t>
            </a:r>
            <a:r>
              <a:rPr lang="en-US" altLang="ko-KR" sz="1400" dirty="0"/>
              <a:t>, </a:t>
            </a:r>
            <a:r>
              <a:rPr lang="ko-KR" altLang="en-US" sz="1400" dirty="0"/>
              <a:t>수리</a:t>
            </a:r>
            <a:r>
              <a:rPr lang="en-US" altLang="ko-KR" sz="1400" dirty="0"/>
              <a:t>)</a:t>
            </a:r>
            <a:r>
              <a:rPr lang="ko-KR" altLang="en-US" sz="1400" dirty="0"/>
              <a:t> 출력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dirty="0"/>
              <a:t>뒤로 가기 버튼 출력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2CAEC36-D0AF-6644-681D-2E6DB21881C9}"/>
              </a:ext>
            </a:extLst>
          </p:cNvPr>
          <p:cNvSpPr/>
          <p:nvPr/>
        </p:nvSpPr>
        <p:spPr>
          <a:xfrm>
            <a:off x="4083700" y="3608565"/>
            <a:ext cx="1128380" cy="423939"/>
          </a:xfrm>
          <a:prstGeom prst="roundRect">
            <a:avLst>
              <a:gd name="adj" fmla="val 1461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7EC5F2-3F3C-BEFD-81DB-D7EB3555C1BD}"/>
              </a:ext>
            </a:extLst>
          </p:cNvPr>
          <p:cNvSpPr txBox="1"/>
          <p:nvPr/>
        </p:nvSpPr>
        <p:spPr>
          <a:xfrm>
            <a:off x="3888775" y="327001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375BC11-B484-6174-1B79-68D956AD1D6C}"/>
              </a:ext>
            </a:extLst>
          </p:cNvPr>
          <p:cNvSpPr/>
          <p:nvPr/>
        </p:nvSpPr>
        <p:spPr>
          <a:xfrm>
            <a:off x="8814816" y="1934491"/>
            <a:ext cx="301752" cy="241198"/>
          </a:xfrm>
          <a:prstGeom prst="roundRect">
            <a:avLst>
              <a:gd name="adj" fmla="val 14619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DAAC26-9F37-B45B-2AE5-1BE49FCC5EC8}"/>
              </a:ext>
            </a:extLst>
          </p:cNvPr>
          <p:cNvSpPr txBox="1"/>
          <p:nvPr/>
        </p:nvSpPr>
        <p:spPr>
          <a:xfrm>
            <a:off x="8497351" y="1815392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A816C5-DD79-791F-69CE-F60FF8FA2BB4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AD4C528-61E2-618D-EC65-F197641409AC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1091EB9-F415-78CB-AC83-4A8D97CD9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121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FD456BD-9176-D175-EE21-F16C5FC1C739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3E3324-959F-9510-AD2E-FF6A2852CE5B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E0962D-62CE-8E0F-B20B-81E431004532}"/>
              </a:ext>
            </a:extLst>
          </p:cNvPr>
          <p:cNvSpPr txBox="1"/>
          <p:nvPr/>
        </p:nvSpPr>
        <p:spPr>
          <a:xfrm>
            <a:off x="0" y="1344306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0FF315-7156-3BC2-D86B-EDFA22747AAF}"/>
              </a:ext>
            </a:extLst>
          </p:cNvPr>
          <p:cNvSpPr txBox="1"/>
          <p:nvPr/>
        </p:nvSpPr>
        <p:spPr>
          <a:xfrm>
            <a:off x="9272016" y="1939919"/>
            <a:ext cx="2919985" cy="1343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b="1" dirty="0" err="1"/>
              <a:t>뒤로가기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 </a:t>
            </a:r>
            <a:r>
              <a:rPr lang="ko-KR" altLang="en-US" sz="1400" dirty="0"/>
              <a:t>지도가 처음화면으로 돌아가며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마지막에 조회한 대표여행지 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마커만 표시</a:t>
            </a:r>
            <a:endParaRPr lang="en-US" altLang="ko-KR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FE877AE-2E89-CD79-A2C5-D8A9AE059C76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26E4B27-B0AC-BBAF-97E6-89C0C62545A7}"/>
              </a:ext>
            </a:extLst>
          </p:cNvPr>
          <p:cNvSpPr/>
          <p:nvPr/>
        </p:nvSpPr>
        <p:spPr>
          <a:xfrm>
            <a:off x="1837944" y="2025394"/>
            <a:ext cx="128930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E427AB7D-3E0F-8113-7C37-5174A0DBC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477" b="63141"/>
          <a:stretch>
            <a:fillRect/>
          </a:stretch>
        </p:blipFill>
        <p:spPr>
          <a:xfrm>
            <a:off x="357950" y="1815881"/>
            <a:ext cx="2885925" cy="161311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C0D461AF-2F7C-1681-9B78-DA7A48D9E686}"/>
              </a:ext>
            </a:extLst>
          </p:cNvPr>
          <p:cNvSpPr/>
          <p:nvPr/>
        </p:nvSpPr>
        <p:spPr>
          <a:xfrm>
            <a:off x="179211" y="1682497"/>
            <a:ext cx="8397861" cy="4581143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4D34CF7-74B2-61BA-10AD-F91CECF91DFE}"/>
              </a:ext>
            </a:extLst>
          </p:cNvPr>
          <p:cNvSpPr/>
          <p:nvPr/>
        </p:nvSpPr>
        <p:spPr>
          <a:xfrm>
            <a:off x="2992586" y="2075687"/>
            <a:ext cx="25353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28B031A9-1BF9-0C9F-91CD-B6753ADDC0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088" y="3543177"/>
            <a:ext cx="5443728" cy="2656886"/>
          </a:xfrm>
          <a:prstGeom prst="rect">
            <a:avLst/>
          </a:prstGeom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DD96CB40-DE3A-EB96-3D1A-11DD3C50470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853718" y="3901837"/>
            <a:ext cx="896112" cy="681684"/>
          </a:xfrm>
          <a:prstGeom prst="bentConnector3">
            <a:avLst>
              <a:gd name="adj1" fmla="val 1004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403747B-BCF1-EAA2-B646-4A077B1D5E12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7FDFE6-721E-E630-6102-F1E6F6A3881A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2934FA5-7652-839E-80DE-B3440DBD9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15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221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E53DA28-73DC-744C-E17D-4936C0FC8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1682496"/>
            <a:ext cx="8938884" cy="4252161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910896B-4DC2-6266-03EE-57BDFE63A44C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879F0-EB38-EB69-22B9-10911DE0D497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537426C-177B-2419-8B2F-D7F194FE061E}"/>
              </a:ext>
            </a:extLst>
          </p:cNvPr>
          <p:cNvSpPr/>
          <p:nvPr/>
        </p:nvSpPr>
        <p:spPr>
          <a:xfrm>
            <a:off x="179212" y="2106431"/>
            <a:ext cx="2655428" cy="3828226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851B6-8751-2E89-69B6-EDCA5F2C9EF0}"/>
              </a:ext>
            </a:extLst>
          </p:cNvPr>
          <p:cNvSpPr txBox="1"/>
          <p:nvPr/>
        </p:nvSpPr>
        <p:spPr>
          <a:xfrm>
            <a:off x="2587752" y="1801368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2CDCA-1BD9-C88E-A511-66F296DE7BCE}"/>
              </a:ext>
            </a:extLst>
          </p:cNvPr>
          <p:cNvSpPr txBox="1"/>
          <p:nvPr/>
        </p:nvSpPr>
        <p:spPr>
          <a:xfrm>
            <a:off x="9272016" y="1939919"/>
            <a:ext cx="29199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메뉴</a:t>
            </a:r>
            <a:r>
              <a:rPr lang="en-US" altLang="ko-KR" sz="1400" dirty="0"/>
              <a:t>(</a:t>
            </a:r>
            <a:r>
              <a:rPr lang="ko-KR" altLang="en-US" sz="1400" dirty="0"/>
              <a:t>맛집</a:t>
            </a:r>
            <a:r>
              <a:rPr lang="en-US" altLang="ko-KR" sz="1400" dirty="0"/>
              <a:t>, </a:t>
            </a:r>
            <a:r>
              <a:rPr lang="ko-KR" altLang="en-US" sz="1400" dirty="0"/>
              <a:t>숙소</a:t>
            </a:r>
            <a:r>
              <a:rPr lang="en-US" altLang="ko-KR" sz="1400" dirty="0"/>
              <a:t>, </a:t>
            </a:r>
            <a:r>
              <a:rPr lang="ko-KR" altLang="en-US" sz="1400" dirty="0"/>
              <a:t>수리</a:t>
            </a:r>
            <a:r>
              <a:rPr lang="en-US" altLang="ko-KR" sz="1400" dirty="0"/>
              <a:t>)</a:t>
            </a:r>
            <a:r>
              <a:rPr lang="ko-KR" altLang="en-US" sz="1400" dirty="0"/>
              <a:t> 클릭 시</a:t>
            </a:r>
            <a:endParaRPr lang="en-US" altLang="ko-KR" sz="1400" dirty="0"/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dirty="0"/>
              <a:t>메뉴에 맞는 리스트 출력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dirty="0"/>
              <a:t>리스트 항목들 마커 출력</a:t>
            </a:r>
            <a:endParaRPr lang="en-US" altLang="ko-KR" sz="14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5A4626B-97D6-6D38-550A-E238945667E9}"/>
              </a:ext>
            </a:extLst>
          </p:cNvPr>
          <p:cNvSpPr/>
          <p:nvPr/>
        </p:nvSpPr>
        <p:spPr>
          <a:xfrm>
            <a:off x="3599068" y="2106431"/>
            <a:ext cx="1731884" cy="2044945"/>
          </a:xfrm>
          <a:prstGeom prst="roundRect">
            <a:avLst>
              <a:gd name="adj" fmla="val 5643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F4FB79-25AD-CDAC-1BE1-1819B4BD7DEA}"/>
              </a:ext>
            </a:extLst>
          </p:cNvPr>
          <p:cNvSpPr txBox="1"/>
          <p:nvPr/>
        </p:nvSpPr>
        <p:spPr>
          <a:xfrm>
            <a:off x="3504727" y="1806971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713FBD6-0424-C65F-32F9-E9DA2140BE00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363327D-EC60-B4DA-27A8-933E6B69B34D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A57A66-81A2-D1B3-31DA-CDC37E6464C3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87AD781-7421-0A20-7626-7E7FAA04A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16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408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EEDB63D6-29C1-D729-6D96-CF5815CD4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1761159"/>
            <a:ext cx="3079284" cy="457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E06EB814-667A-82DB-926C-31C5F6ECFC1A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6A1F4C-03FE-F66B-9196-C231734289DC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5AC3449-AA60-5BB2-998A-34D5F0E8F22D}"/>
              </a:ext>
            </a:extLst>
          </p:cNvPr>
          <p:cNvSpPr/>
          <p:nvPr/>
        </p:nvSpPr>
        <p:spPr>
          <a:xfrm>
            <a:off x="179212" y="1761158"/>
            <a:ext cx="3079284" cy="4576599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419C51-3BE0-37A1-801A-17936E867646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4072B6-9F48-3AE4-266E-FEF35B52325C}"/>
              </a:ext>
            </a:extLst>
          </p:cNvPr>
          <p:cNvSpPr txBox="1"/>
          <p:nvPr/>
        </p:nvSpPr>
        <p:spPr>
          <a:xfrm>
            <a:off x="9272016" y="1939919"/>
            <a:ext cx="2919985" cy="2312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b="1" dirty="0"/>
              <a:t>검색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 </a:t>
            </a:r>
            <a:r>
              <a:rPr lang="ko-KR" altLang="en-US" sz="1400" dirty="0"/>
              <a:t>검색어가 </a:t>
            </a:r>
            <a:r>
              <a:rPr lang="ko-KR" altLang="en-US" sz="1400" dirty="0" err="1"/>
              <a:t>업소명</a:t>
            </a:r>
            <a:r>
              <a:rPr lang="en-US" altLang="ko-KR" sz="1400" dirty="0"/>
              <a:t> </a:t>
            </a:r>
            <a:r>
              <a:rPr lang="ko-KR" altLang="en-US" sz="1400" dirty="0"/>
              <a:t>및</a:t>
            </a:r>
            <a:r>
              <a:rPr lang="en-US" altLang="ko-KR" sz="1400" dirty="0"/>
              <a:t> </a:t>
            </a:r>
            <a:r>
              <a:rPr lang="ko-KR" altLang="en-US" sz="1400" dirty="0"/>
              <a:t>태그에 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포함 된 항목들 리스트로 출력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b="1" dirty="0"/>
              <a:t>숨기기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리스트를 숨겨 지도만 확인 </a:t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가능</a:t>
            </a:r>
            <a:endParaRPr lang="en-US" altLang="ko-KR" sz="14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8852F1-D51B-1960-5DDC-56D804B173A7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1F8F6A-2339-2709-B052-89FDC24CE7DF}"/>
              </a:ext>
            </a:extLst>
          </p:cNvPr>
          <p:cNvSpPr/>
          <p:nvPr/>
        </p:nvSpPr>
        <p:spPr>
          <a:xfrm>
            <a:off x="1" y="0"/>
            <a:ext cx="12192000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3FB52D82-528F-88DF-7A1F-4DD548D207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7506"/>
          <a:stretch>
            <a:fillRect/>
          </a:stretch>
        </p:blipFill>
        <p:spPr>
          <a:xfrm>
            <a:off x="4647650" y="1943269"/>
            <a:ext cx="2804710" cy="129421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</p:pic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61B9FE74-4667-F53D-6DCC-6403DCC180A4}"/>
              </a:ext>
            </a:extLst>
          </p:cNvPr>
          <p:cNvSpPr/>
          <p:nvPr/>
        </p:nvSpPr>
        <p:spPr>
          <a:xfrm>
            <a:off x="3819861" y="1761158"/>
            <a:ext cx="4757211" cy="4576599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1680B7-AB47-7E1B-D01E-1D178FB6419C}"/>
              </a:ext>
            </a:extLst>
          </p:cNvPr>
          <p:cNvSpPr txBox="1"/>
          <p:nvPr/>
        </p:nvSpPr>
        <p:spPr>
          <a:xfrm>
            <a:off x="3624936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8B7F367-06C5-7BF0-E984-0F8A390C07E2}"/>
              </a:ext>
            </a:extLst>
          </p:cNvPr>
          <p:cNvSpPr/>
          <p:nvPr/>
        </p:nvSpPr>
        <p:spPr>
          <a:xfrm>
            <a:off x="4647650" y="2139695"/>
            <a:ext cx="25353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4DC390BC-A286-693B-5CE0-EB2B8CBCB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3674" y="4100914"/>
            <a:ext cx="4447829" cy="2001523"/>
          </a:xfrm>
          <a:prstGeom prst="rect">
            <a:avLst/>
          </a:prstGeom>
        </p:spPr>
      </p:pic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169D6248-AF3F-F2AB-12B6-876B6E8156DC}"/>
              </a:ext>
            </a:extLst>
          </p:cNvPr>
          <p:cNvCxnSpPr/>
          <p:nvPr/>
        </p:nvCxnSpPr>
        <p:spPr>
          <a:xfrm>
            <a:off x="6050005" y="3429000"/>
            <a:ext cx="0" cy="49377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20FA2008-9C21-2BB9-F178-FABCCE819561}"/>
              </a:ext>
            </a:extLst>
          </p:cNvPr>
          <p:cNvSpPr/>
          <p:nvPr/>
        </p:nvSpPr>
        <p:spPr>
          <a:xfrm>
            <a:off x="1837944" y="2025394"/>
            <a:ext cx="1289304" cy="228601"/>
          </a:xfrm>
          <a:prstGeom prst="roundRect">
            <a:avLst>
              <a:gd name="adj" fmla="val 15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099E55-86AF-7E74-4DB5-32790B687E93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9E0EC72-B2BF-802E-F7F0-EE52FA11D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17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9659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A8F39CFD-6865-F2F5-E7E3-BD2DF6484903}"/>
              </a:ext>
            </a:extLst>
          </p:cNvPr>
          <p:cNvSpPr txBox="1"/>
          <p:nvPr/>
        </p:nvSpPr>
        <p:spPr>
          <a:xfrm>
            <a:off x="9272016" y="1939919"/>
            <a:ext cx="291998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리스트 항목 및 마커 클릭 시</a:t>
            </a:r>
            <a:endParaRPr lang="en-US" altLang="ko-KR" sz="1400" dirty="0"/>
          </a:p>
          <a:p>
            <a:endParaRPr lang="en-US" altLang="ko-KR" sz="1400" b="1" dirty="0">
              <a:solidFill>
                <a:srgbClr val="FF0000"/>
              </a:solidFill>
            </a:endParaRPr>
          </a:p>
          <a:p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dirty="0"/>
              <a:t>상세 정보 창 출력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b="1" dirty="0">
                <a:solidFill>
                  <a:srgbClr val="FF0000"/>
                </a:solidFill>
              </a:rPr>
              <a:t>②</a:t>
            </a:r>
            <a:r>
              <a:rPr lang="ko-KR" altLang="en-US" sz="1400" dirty="0"/>
              <a:t> 지도에 대표 여행지로부터 </a:t>
            </a:r>
            <a:br>
              <a:rPr lang="en-US" altLang="ko-KR" sz="1400" dirty="0"/>
            </a:br>
            <a:r>
              <a:rPr lang="en-US" altLang="ko-KR" sz="1400" dirty="0"/>
              <a:t>    </a:t>
            </a:r>
            <a:r>
              <a:rPr lang="ko-KR" altLang="en-US" sz="1400" dirty="0"/>
              <a:t>해당 항목까지의 경로 출력</a:t>
            </a:r>
            <a:endParaRPr lang="en-US" altLang="ko-KR" sz="1400" dirty="0"/>
          </a:p>
          <a:p>
            <a:endParaRPr lang="en-US" altLang="ko-KR" sz="1400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FE61AC1E-C406-AE57-3F69-0B8997A2DB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532" t="31179" r="37958" b="33286"/>
          <a:stretch>
            <a:fillRect/>
          </a:stretch>
        </p:blipFill>
        <p:spPr>
          <a:xfrm>
            <a:off x="5937092" y="4566869"/>
            <a:ext cx="3181004" cy="1826164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BF220BE-6F1C-3996-078C-B5A185871CEA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96779-B9CB-41D3-2D26-86C08A09F47E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25AB9237-9840-B043-F6E2-55BF918BB0BB}"/>
              </a:ext>
            </a:extLst>
          </p:cNvPr>
          <p:cNvGrpSpPr/>
          <p:nvPr/>
        </p:nvGrpSpPr>
        <p:grpSpPr>
          <a:xfrm>
            <a:off x="179211" y="1557774"/>
            <a:ext cx="6088113" cy="2913642"/>
            <a:chOff x="179213" y="1557995"/>
            <a:chExt cx="5480924" cy="2623055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BBCCAD3-1A37-3E1F-47AB-6B33A5126E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213" y="1557995"/>
              <a:ext cx="5480924" cy="2623055"/>
            </a:xfrm>
            <a:prstGeom prst="rect">
              <a:avLst/>
            </a:prstGeom>
            <a:ln>
              <a:noFill/>
            </a:ln>
            <a:effectLst>
              <a:outerShdw blurRad="508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1A6E5DEB-65F9-CF51-E83D-9C3C1685C327}"/>
                </a:ext>
              </a:extLst>
            </p:cNvPr>
            <p:cNvSpPr/>
            <p:nvPr/>
          </p:nvSpPr>
          <p:spPr>
            <a:xfrm>
              <a:off x="705896" y="1836237"/>
              <a:ext cx="4401640" cy="2232662"/>
            </a:xfrm>
            <a:prstGeom prst="roundRect">
              <a:avLst>
                <a:gd name="adj" fmla="val 3600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E62720-317C-592F-DA6B-F81CF757D96D}"/>
                </a:ext>
              </a:extLst>
            </p:cNvPr>
            <p:cNvSpPr txBox="1"/>
            <p:nvPr/>
          </p:nvSpPr>
          <p:spPr>
            <a:xfrm>
              <a:off x="411480" y="1649435"/>
              <a:ext cx="2394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b="1" dirty="0">
                  <a:solidFill>
                    <a:srgbClr val="FF0000"/>
                  </a:solidFill>
                </a:rPr>
                <a:t>①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4759919-F909-8DC4-F223-C677EE89E01D}"/>
              </a:ext>
            </a:extLst>
          </p:cNvPr>
          <p:cNvSpPr txBox="1"/>
          <p:nvPr/>
        </p:nvSpPr>
        <p:spPr>
          <a:xfrm>
            <a:off x="5543315" y="4733373"/>
            <a:ext cx="239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57AB6E6-4307-72F8-9F53-808DB1223424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556BB63-8A27-DE48-29E7-0B58E67CA45F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EB5BF84-4B1D-7020-4EB9-26F37413FC5D}"/>
              </a:ext>
            </a:extLst>
          </p:cNvPr>
          <p:cNvSpPr/>
          <p:nvPr/>
        </p:nvSpPr>
        <p:spPr>
          <a:xfrm>
            <a:off x="5934457" y="4901185"/>
            <a:ext cx="2103120" cy="905256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3B9B62-023A-7AC9-DFB3-2A17EF193F49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9E58A15-0713-AAA9-4394-E0C06CE5C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18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719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095B5CB1-0B63-7CB4-4A51-6483E014B09A}"/>
              </a:ext>
            </a:extLst>
          </p:cNvPr>
          <p:cNvSpPr txBox="1"/>
          <p:nvPr/>
        </p:nvSpPr>
        <p:spPr>
          <a:xfrm>
            <a:off x="9272016" y="1939919"/>
            <a:ext cx="2919985" cy="2312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① </a:t>
            </a:r>
            <a:r>
              <a:rPr lang="ko-KR" altLang="en-US" sz="1400" b="1" dirty="0"/>
              <a:t>저장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 </a:t>
            </a:r>
            <a:r>
              <a:rPr lang="ko-KR" altLang="en-US" sz="1400" dirty="0" err="1"/>
              <a:t>회원별</a:t>
            </a:r>
            <a:r>
              <a:rPr lang="ko-KR" altLang="en-US" sz="1400" dirty="0"/>
              <a:t> 마음에 드는 항목 저장</a:t>
            </a: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en-US" altLang="ko-KR" sz="1400" dirty="0"/>
              <a:t>    (</a:t>
            </a:r>
            <a:r>
              <a:rPr lang="ko-KR" altLang="en-US" sz="1400" dirty="0"/>
              <a:t>비로그인 시 </a:t>
            </a:r>
            <a:r>
              <a:rPr lang="ko-KR" altLang="en-US" sz="1400" dirty="0" err="1"/>
              <a:t>경고창</a:t>
            </a:r>
            <a:r>
              <a:rPr lang="ko-KR" altLang="en-US" sz="1400" dirty="0"/>
              <a:t> 출력</a:t>
            </a:r>
            <a:r>
              <a:rPr lang="en-US" altLang="ko-KR" sz="1400" dirty="0"/>
              <a:t>)</a:t>
            </a:r>
          </a:p>
          <a:p>
            <a:pPr>
              <a:lnSpc>
                <a:spcPct val="150000"/>
              </a:lnSpc>
            </a:pPr>
            <a:endParaRPr lang="en-US" altLang="ko-KR" sz="1400" dirty="0"/>
          </a:p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② </a:t>
            </a:r>
            <a:r>
              <a:rPr lang="ko-KR" altLang="en-US" sz="1400" b="1" dirty="0" err="1"/>
              <a:t>더보기</a:t>
            </a:r>
            <a:endParaRPr lang="en-US" altLang="ko-KR" sz="1400" b="1" dirty="0"/>
          </a:p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</a:t>
            </a: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ko-KR" altLang="en-US" sz="1400" dirty="0"/>
              <a:t>지번</a:t>
            </a:r>
            <a:r>
              <a:rPr lang="en-US" altLang="ko-KR" sz="1400" dirty="0"/>
              <a:t>, </a:t>
            </a:r>
            <a:r>
              <a:rPr lang="ko-KR" altLang="en-US" sz="1400" dirty="0"/>
              <a:t>영업시간</a:t>
            </a:r>
            <a:r>
              <a:rPr lang="en-US" altLang="ko-KR" sz="1400" dirty="0"/>
              <a:t>, </a:t>
            </a:r>
            <a:r>
              <a:rPr lang="ko-KR" altLang="en-US" sz="1400" dirty="0"/>
              <a:t>메뉴 등 숨겨진 </a:t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항목 출력</a:t>
            </a:r>
            <a:endParaRPr lang="en-US" altLang="ko-KR" sz="1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4C2F8F-9A78-9BA2-9780-AAAD4022415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53740-E56C-5861-C3CC-4F190C81A27C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FA70A86-A69A-4727-EAD5-255EB2525F25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BDA5A5A-DD31-5E5D-0F6D-63A3AD5EB342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6A327855-473C-463B-C08D-14A9C2820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784" y="3936252"/>
            <a:ext cx="4458849" cy="2259531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4F37CC74-C318-16E0-0D12-BB07660E4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24" y="2317168"/>
            <a:ext cx="2930429" cy="1290150"/>
          </a:xfrm>
          <a:prstGeom prst="rect">
            <a:avLst/>
          </a:prstGeom>
        </p:spPr>
      </p:pic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B1111BA-83C4-73A1-6982-DC24E2A935E3}"/>
              </a:ext>
            </a:extLst>
          </p:cNvPr>
          <p:cNvSpPr/>
          <p:nvPr/>
        </p:nvSpPr>
        <p:spPr>
          <a:xfrm>
            <a:off x="179212" y="1761158"/>
            <a:ext cx="3079284" cy="4576599"/>
          </a:xfrm>
          <a:prstGeom prst="roundRect">
            <a:avLst>
              <a:gd name="adj" fmla="val 36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7F3A26-1C7F-A784-C56B-20AA17921B2B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①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10BBC83A-77D5-0A60-1C49-29E2E64A9274}"/>
              </a:ext>
            </a:extLst>
          </p:cNvPr>
          <p:cNvSpPr/>
          <p:nvPr/>
        </p:nvSpPr>
        <p:spPr>
          <a:xfrm>
            <a:off x="3819861" y="1761158"/>
            <a:ext cx="4757211" cy="4576599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E6270D-DA15-EC8D-4A1C-CE47950DE2D3}"/>
              </a:ext>
            </a:extLst>
          </p:cNvPr>
          <p:cNvSpPr txBox="1"/>
          <p:nvPr/>
        </p:nvSpPr>
        <p:spPr>
          <a:xfrm>
            <a:off x="3624936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②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295F90-EB8A-132F-D96C-5F7AB9BC5FCA}"/>
              </a:ext>
            </a:extLst>
          </p:cNvPr>
          <p:cNvSpPr txBox="1"/>
          <p:nvPr/>
        </p:nvSpPr>
        <p:spPr>
          <a:xfrm>
            <a:off x="155448" y="2011480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2C652E-F77A-D4E0-2F6D-18E882B7E250}"/>
              </a:ext>
            </a:extLst>
          </p:cNvPr>
          <p:cNvSpPr txBox="1"/>
          <p:nvPr/>
        </p:nvSpPr>
        <p:spPr>
          <a:xfrm>
            <a:off x="155448" y="4006575"/>
            <a:ext cx="10534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비로그인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A3C736E-CB15-5095-AEBB-A057C90B695C}"/>
              </a:ext>
            </a:extLst>
          </p:cNvPr>
          <p:cNvSpPr/>
          <p:nvPr/>
        </p:nvSpPr>
        <p:spPr>
          <a:xfrm>
            <a:off x="2587752" y="3318708"/>
            <a:ext cx="274320" cy="192024"/>
          </a:xfrm>
          <a:prstGeom prst="roundRect">
            <a:avLst>
              <a:gd name="adj" fmla="val 19900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BF06C45A-7260-ADB1-D8A0-33AE4C208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173" y="4304252"/>
            <a:ext cx="2952161" cy="1647587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C5932086-E5A9-FB03-6187-3E3BA008E8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37300"/>
          <a:stretch>
            <a:fillRect/>
          </a:stretch>
        </p:blipFill>
        <p:spPr>
          <a:xfrm>
            <a:off x="3955720" y="1906434"/>
            <a:ext cx="4447616" cy="1412274"/>
          </a:xfrm>
          <a:prstGeom prst="rect">
            <a:avLst/>
          </a:prstGeom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88D20A9-5138-09F3-8724-5F797C4F88BA}"/>
              </a:ext>
            </a:extLst>
          </p:cNvPr>
          <p:cNvSpPr/>
          <p:nvPr/>
        </p:nvSpPr>
        <p:spPr>
          <a:xfrm>
            <a:off x="4778487" y="2993231"/>
            <a:ext cx="175157" cy="78582"/>
          </a:xfrm>
          <a:prstGeom prst="roundRect">
            <a:avLst>
              <a:gd name="adj" fmla="val 2462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8CA8ED0C-ADFC-B3F4-0FB6-9C6605BA1CAE}"/>
              </a:ext>
            </a:extLst>
          </p:cNvPr>
          <p:cNvSpPr/>
          <p:nvPr/>
        </p:nvSpPr>
        <p:spPr>
          <a:xfrm>
            <a:off x="7119474" y="2946729"/>
            <a:ext cx="385591" cy="137431"/>
          </a:xfrm>
          <a:prstGeom prst="roundRect">
            <a:avLst>
              <a:gd name="adj" fmla="val 21425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53F263D-C3AC-3C94-0F3C-90010ABC7270}"/>
              </a:ext>
            </a:extLst>
          </p:cNvPr>
          <p:cNvSpPr/>
          <p:nvPr/>
        </p:nvSpPr>
        <p:spPr>
          <a:xfrm>
            <a:off x="4531519" y="3086100"/>
            <a:ext cx="383779" cy="88106"/>
          </a:xfrm>
          <a:prstGeom prst="roundRect">
            <a:avLst>
              <a:gd name="adj" fmla="val 24628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6B8739C-EA36-CA35-505E-FD7D3DC4053C}"/>
              </a:ext>
            </a:extLst>
          </p:cNvPr>
          <p:cNvCxnSpPr>
            <a:cxnSpLocks/>
          </p:cNvCxnSpPr>
          <p:nvPr/>
        </p:nvCxnSpPr>
        <p:spPr>
          <a:xfrm>
            <a:off x="6050005" y="3510732"/>
            <a:ext cx="0" cy="3023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6C390FB-FD9B-D607-E444-44222CE4E748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3AC9DD-83F2-9A3F-0D6A-94659D65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19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07737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그림 45">
            <a:extLst>
              <a:ext uri="{FF2B5EF4-FFF2-40B4-BE49-F238E27FC236}">
                <a16:creationId xmlns:a16="http://schemas.microsoft.com/office/drawing/2014/main" id="{941D9B3A-F580-23A5-3B33-53F13C1385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625" y="2203673"/>
            <a:ext cx="4037636" cy="16244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60697D8-C440-DA14-63C1-EF7F9894585A}"/>
              </a:ext>
            </a:extLst>
          </p:cNvPr>
          <p:cNvSpPr txBox="1"/>
          <p:nvPr/>
        </p:nvSpPr>
        <p:spPr>
          <a:xfrm>
            <a:off x="9272016" y="1939919"/>
            <a:ext cx="2919985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③ </a:t>
            </a:r>
            <a:r>
              <a:rPr lang="ko-KR" altLang="en-US" sz="1400" b="1" dirty="0"/>
              <a:t>선택 리스트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 </a:t>
            </a:r>
            <a:r>
              <a:rPr lang="ko-KR" altLang="en-US" sz="1400" dirty="0"/>
              <a:t>원하는 버튼에 맞는 리스트 </a:t>
            </a:r>
            <a:br>
              <a:rPr lang="en-US" altLang="ko-KR" sz="1400" dirty="0"/>
            </a:br>
            <a:r>
              <a:rPr lang="en-US" altLang="ko-KR" sz="1400" dirty="0"/>
              <a:t>   </a:t>
            </a:r>
            <a:r>
              <a:rPr lang="ko-KR" altLang="en-US" sz="1400" dirty="0"/>
              <a:t>출력</a:t>
            </a:r>
            <a:endParaRPr lang="en-US" altLang="ko-KR" sz="1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D801445-CE71-FF2A-4B99-F89BCBEF76C5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5AD5C-BD46-0D66-6507-70797D007FCB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C55B9B-0A49-EA82-9C3C-1AD42D1EE228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ACC5FBB-B0B7-AD09-140C-9FAD36D374A5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DEF7EF-72A2-F399-76EE-920EED7E5A81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③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17B0782-9AEC-269D-52C8-5CDA2F59C24A}"/>
              </a:ext>
            </a:extLst>
          </p:cNvPr>
          <p:cNvSpPr/>
          <p:nvPr/>
        </p:nvSpPr>
        <p:spPr>
          <a:xfrm>
            <a:off x="108854" y="1761158"/>
            <a:ext cx="8651097" cy="4685362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4071F0B2-F17A-7AA3-88F6-13A6817E37C9}"/>
              </a:ext>
            </a:extLst>
          </p:cNvPr>
          <p:cNvGrpSpPr/>
          <p:nvPr/>
        </p:nvGrpSpPr>
        <p:grpSpPr>
          <a:xfrm>
            <a:off x="179212" y="2203672"/>
            <a:ext cx="3930340" cy="1588375"/>
            <a:chOff x="179212" y="2209167"/>
            <a:chExt cx="4053958" cy="1638333"/>
          </a:xfrm>
        </p:grpSpPr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4D99726B-39B8-7BAB-A3E7-BCD475B01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9212" y="2209167"/>
              <a:ext cx="4053958" cy="1638333"/>
            </a:xfrm>
            <a:prstGeom prst="rect">
              <a:avLst/>
            </a:prstGeom>
          </p:spPr>
        </p:pic>
        <p:sp>
          <p:nvSpPr>
            <p:cNvPr id="27" name="사각형: 둥근 모서리 26">
              <a:extLst>
                <a:ext uri="{FF2B5EF4-FFF2-40B4-BE49-F238E27FC236}">
                  <a16:creationId xmlns:a16="http://schemas.microsoft.com/office/drawing/2014/main" id="{AA945402-BE9B-B6FE-A5DD-977E74CE2778}"/>
                </a:ext>
              </a:extLst>
            </p:cNvPr>
            <p:cNvSpPr/>
            <p:nvPr/>
          </p:nvSpPr>
          <p:spPr>
            <a:xfrm>
              <a:off x="204205" y="2357548"/>
              <a:ext cx="1335023" cy="145244"/>
            </a:xfrm>
            <a:prstGeom prst="roundRect">
              <a:avLst>
                <a:gd name="adj" fmla="val 21425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385219E-6782-D32D-9380-CB921DEC66EB}"/>
              </a:ext>
            </a:extLst>
          </p:cNvPr>
          <p:cNvSpPr txBox="1"/>
          <p:nvPr/>
        </p:nvSpPr>
        <p:spPr>
          <a:xfrm>
            <a:off x="140198" y="1901834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사진 목록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4AF84F0-69F4-1659-48EE-9490660E21D4}"/>
              </a:ext>
            </a:extLst>
          </p:cNvPr>
          <p:cNvGrpSpPr/>
          <p:nvPr/>
        </p:nvGrpSpPr>
        <p:grpSpPr>
          <a:xfrm>
            <a:off x="144978" y="3905969"/>
            <a:ext cx="8011471" cy="2443276"/>
            <a:chOff x="15839" y="3866529"/>
            <a:chExt cx="8266290" cy="2520990"/>
          </a:xfrm>
        </p:grpSpPr>
        <p:pic>
          <p:nvPicPr>
            <p:cNvPr id="40" name="그림 39">
              <a:extLst>
                <a:ext uri="{FF2B5EF4-FFF2-40B4-BE49-F238E27FC236}">
                  <a16:creationId xmlns:a16="http://schemas.microsoft.com/office/drawing/2014/main" id="{7510A84D-ACB9-0548-A36E-3E581BC97F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1729"/>
            <a:stretch>
              <a:fillRect/>
            </a:stretch>
          </p:blipFill>
          <p:spPr>
            <a:xfrm>
              <a:off x="4848465" y="4150489"/>
              <a:ext cx="3433664" cy="2233138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4ADB68A-1B99-155F-DD55-414809A54190}"/>
                </a:ext>
              </a:extLst>
            </p:cNvPr>
            <p:cNvSpPr txBox="1"/>
            <p:nvPr/>
          </p:nvSpPr>
          <p:spPr>
            <a:xfrm>
              <a:off x="15839" y="3866529"/>
              <a:ext cx="925253" cy="2540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 b="1" dirty="0"/>
                <a:t>[ </a:t>
              </a:r>
              <a:r>
                <a:rPr lang="ko-KR" altLang="en-US" sz="1000" b="1" dirty="0"/>
                <a:t>리뷰 목록 </a:t>
              </a:r>
              <a:r>
                <a:rPr lang="en-US" altLang="ko-KR" sz="1000" b="1" dirty="0"/>
                <a:t>]</a:t>
              </a:r>
              <a:endParaRPr lang="ko-KR" altLang="en-US" sz="1000" b="1" dirty="0"/>
            </a:p>
          </p:txBody>
        </p:sp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45825539-E6C4-0A42-E061-F4665C7CA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25477"/>
            <a:stretch>
              <a:fillRect/>
            </a:stretch>
          </p:blipFill>
          <p:spPr>
            <a:xfrm>
              <a:off x="389850" y="4156951"/>
              <a:ext cx="3253036" cy="2230568"/>
            </a:xfrm>
            <a:prstGeom prst="rect">
              <a:avLst/>
            </a:prstGeom>
          </p:spPr>
        </p:pic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D2826E54-055A-8C64-2ADD-6BB0DF832EC7}"/>
                </a:ext>
              </a:extLst>
            </p:cNvPr>
            <p:cNvSpPr/>
            <p:nvPr/>
          </p:nvSpPr>
          <p:spPr>
            <a:xfrm>
              <a:off x="420625" y="4270486"/>
              <a:ext cx="713232" cy="137806"/>
            </a:xfrm>
            <a:prstGeom prst="roundRect">
              <a:avLst>
                <a:gd name="adj" fmla="val 21425"/>
              </a:avLst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FCCBDA7E-85C0-AB08-BFD9-1318AFEBC5F6}"/>
                </a:ext>
              </a:extLst>
            </p:cNvPr>
            <p:cNvCxnSpPr>
              <a:cxnSpLocks/>
            </p:cNvCxnSpPr>
            <p:nvPr/>
          </p:nvCxnSpPr>
          <p:spPr>
            <a:xfrm>
              <a:off x="4095380" y="5220860"/>
              <a:ext cx="408157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ECF3C150-5540-A62F-1AC9-6C8AA199BF6F}"/>
              </a:ext>
            </a:extLst>
          </p:cNvPr>
          <p:cNvCxnSpPr>
            <a:cxnSpLocks/>
          </p:cNvCxnSpPr>
          <p:nvPr/>
        </p:nvCxnSpPr>
        <p:spPr>
          <a:xfrm>
            <a:off x="4224528" y="2989135"/>
            <a:ext cx="27900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FB482211-068D-67C6-312F-63297DF66115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FA590D4-1825-4AE4-6F1B-CA11C6E3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20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8457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31">
            <a:extLst>
              <a:ext uri="{FF2B5EF4-FFF2-40B4-BE49-F238E27FC236}">
                <a16:creationId xmlns:a16="http://schemas.microsoft.com/office/drawing/2014/main" id="{87E84540-926B-8C27-1AC7-C51949E6B624}"/>
              </a:ext>
            </a:extLst>
          </p:cNvPr>
          <p:cNvSpPr txBox="1"/>
          <p:nvPr/>
        </p:nvSpPr>
        <p:spPr>
          <a:xfrm>
            <a:off x="144978" y="3905969"/>
            <a:ext cx="125405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비로그인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84921-0B1F-4CEF-11DD-1118B5387028}"/>
              </a:ext>
            </a:extLst>
          </p:cNvPr>
          <p:cNvSpPr txBox="1"/>
          <p:nvPr/>
        </p:nvSpPr>
        <p:spPr>
          <a:xfrm>
            <a:off x="9272016" y="1939919"/>
            <a:ext cx="2919985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b="1" dirty="0">
                <a:solidFill>
                  <a:srgbClr val="FF0000"/>
                </a:solidFill>
              </a:rPr>
              <a:t>④ </a:t>
            </a:r>
            <a:r>
              <a:rPr lang="ko-KR" altLang="en-US" sz="1400" b="1" dirty="0"/>
              <a:t>리뷰 작성</a:t>
            </a:r>
            <a:br>
              <a:rPr lang="en-US" altLang="ko-KR" sz="1400" b="1" dirty="0">
                <a:solidFill>
                  <a:srgbClr val="FF0000"/>
                </a:solidFill>
              </a:rPr>
            </a:br>
            <a:r>
              <a:rPr lang="en-US" altLang="ko-KR" sz="1400" b="1" dirty="0">
                <a:solidFill>
                  <a:srgbClr val="FF0000"/>
                </a:solidFill>
              </a:rPr>
              <a:t> </a:t>
            </a:r>
            <a:r>
              <a:rPr lang="en-US" altLang="ko-KR" sz="1400" b="1" dirty="0"/>
              <a:t>- </a:t>
            </a:r>
            <a:r>
              <a:rPr lang="ko-KR" altLang="en-US" sz="1400" dirty="0" err="1"/>
              <a:t>회원별</a:t>
            </a:r>
            <a:r>
              <a:rPr lang="ko-KR" altLang="en-US" sz="1400" dirty="0"/>
              <a:t> 리뷰 작성 및 업로드</a:t>
            </a:r>
            <a:br>
              <a:rPr lang="en-US" altLang="ko-KR" sz="1400" dirty="0"/>
            </a:br>
            <a:r>
              <a:rPr lang="en-US" altLang="ko-KR" sz="1400" dirty="0"/>
              <a:t>   (</a:t>
            </a:r>
            <a:r>
              <a:rPr lang="ko-KR" altLang="en-US" sz="1400" dirty="0"/>
              <a:t>비로그인 시 </a:t>
            </a:r>
            <a:r>
              <a:rPr lang="ko-KR" altLang="en-US" sz="1400" dirty="0" err="1"/>
              <a:t>경고창</a:t>
            </a:r>
            <a:r>
              <a:rPr lang="ko-KR" altLang="en-US" sz="1400" dirty="0"/>
              <a:t> 출력</a:t>
            </a:r>
            <a:r>
              <a:rPr lang="en-US" altLang="ko-KR" sz="1400" dirty="0"/>
              <a:t>)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11D0EA0-5989-4C39-D0E8-7F3C3652A924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AB82E-7675-7E39-5832-3845C47AC0FF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기능 설명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6202A1-C719-B472-558E-7AD8BC3ECBBA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E958EFE-5D0C-2C99-E435-B7B53A69A1AD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FF7860-4D40-3814-8A49-FDD614A173AA}"/>
              </a:ext>
            </a:extLst>
          </p:cNvPr>
          <p:cNvSpPr txBox="1"/>
          <p:nvPr/>
        </p:nvSpPr>
        <p:spPr>
          <a:xfrm>
            <a:off x="0" y="1417684"/>
            <a:ext cx="389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0000"/>
                </a:solidFill>
              </a:rPr>
              <a:t>④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29FD5D-39E2-2539-16B3-5178F53100C5}"/>
              </a:ext>
            </a:extLst>
          </p:cNvPr>
          <p:cNvSpPr/>
          <p:nvPr/>
        </p:nvSpPr>
        <p:spPr>
          <a:xfrm>
            <a:off x="108854" y="1761158"/>
            <a:ext cx="8651097" cy="4685362"/>
          </a:xfrm>
          <a:prstGeom prst="roundRect">
            <a:avLst>
              <a:gd name="adj" fmla="val 3001"/>
            </a:avLst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EC74BB3-E63E-4071-7058-2A02CD6EA9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89" y="2499720"/>
            <a:ext cx="3854205" cy="962311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F83DB028-C451-2C36-924E-6BE5E445698D}"/>
              </a:ext>
            </a:extLst>
          </p:cNvPr>
          <p:cNvSpPr txBox="1"/>
          <p:nvPr/>
        </p:nvSpPr>
        <p:spPr>
          <a:xfrm>
            <a:off x="140198" y="1901834"/>
            <a:ext cx="9252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/>
              <a:t>[ </a:t>
            </a:r>
            <a:r>
              <a:rPr lang="ko-KR" altLang="en-US" sz="1000" b="1" dirty="0"/>
              <a:t>로그인 시 </a:t>
            </a:r>
            <a:r>
              <a:rPr lang="en-US" altLang="ko-KR" sz="1000" b="1" dirty="0"/>
              <a:t>]</a:t>
            </a:r>
            <a:endParaRPr lang="ko-KR" altLang="en-US" sz="1000" b="1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C78421C-B70A-61BA-1110-F483F4D34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168" y="4205621"/>
            <a:ext cx="4054134" cy="2074269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1CC45928-3D00-3F9F-7CDB-40A7DF3C1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116" y="2046682"/>
            <a:ext cx="3656364" cy="1868388"/>
          </a:xfrm>
          <a:prstGeom prst="rect">
            <a:avLst/>
          </a:prstGeom>
        </p:spPr>
      </p:pic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5DB139A4-00A0-D47B-E622-F96FCF2D74D1}"/>
              </a:ext>
            </a:extLst>
          </p:cNvPr>
          <p:cNvCxnSpPr>
            <a:cxnSpLocks/>
          </p:cNvCxnSpPr>
          <p:nvPr/>
        </p:nvCxnSpPr>
        <p:spPr>
          <a:xfrm>
            <a:off x="4298302" y="2980875"/>
            <a:ext cx="279009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53A89383-6268-C4FC-FBF6-0FE81D88D0D9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2F038CB-AD97-59F3-A8E4-9AFC0E5E2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21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844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8CAAC-9762-BDF5-45AA-FC891836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A47BA2C3-A8D6-BF38-2507-E17D1E89524A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95EC6CC4-33E4-B2BF-7F4B-E047817451CC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8D05740-0A35-D95B-49B7-58AA830C0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2309383"/>
              </p:ext>
            </p:extLst>
          </p:nvPr>
        </p:nvGraphicFramePr>
        <p:xfrm>
          <a:off x="633469" y="2028939"/>
          <a:ext cx="8168640" cy="36483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5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프로젝트 다이어그램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메인 화면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6790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로그인 및 회원정보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36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구매 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273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자전거 대여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9023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여행지 추천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525308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01630D7-87F8-C516-3F08-0E2203355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66029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DD19DA1D-DB63-E139-E97F-C976FE8D47F6}"/>
              </a:ext>
            </a:extLst>
          </p:cNvPr>
          <p:cNvSpPr txBox="1"/>
          <p:nvPr/>
        </p:nvSpPr>
        <p:spPr>
          <a:xfrm>
            <a:off x="5235366" y="1884912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</a:t>
            </a:r>
            <a:r>
              <a:rPr lang="ko-KR" altLang="en-US" sz="1200" dirty="0"/>
              <a:t> 유형별 리스트 및 마커 출력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54F5C67-875E-31BA-8E6A-46B252682330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DD2FB-8487-A870-FD03-8F7831420786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8975CAE-4450-E0CD-2EBC-DFAA74B3081E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E5FB9B-7EB1-91F1-5F6F-DDFE4545F768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C83738-CD0B-1747-0121-D78775EA4C68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9355800C-D8D3-DAE5-6E50-39231F6AC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2386590"/>
            <a:ext cx="4577835" cy="2522983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7B18248-C61E-765D-6121-199A9CCD8478}"/>
              </a:ext>
            </a:extLst>
          </p:cNvPr>
          <p:cNvSpPr txBox="1"/>
          <p:nvPr/>
        </p:nvSpPr>
        <p:spPr>
          <a:xfrm>
            <a:off x="179212" y="1884913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</a:t>
            </a:r>
            <a:r>
              <a:rPr lang="ko-KR" altLang="en-US" sz="1200" dirty="0"/>
              <a:t> 대표 여행지 마커 출력 타입별 리스트 및 마커 출력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CCEDCAEF-1826-8A35-E6B6-A7E79EF81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366" y="2386590"/>
            <a:ext cx="6777422" cy="2225988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8C152482-EB13-3C1C-F0C6-6873347E0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23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2809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9764E0D-50A3-D3BD-35B6-02288BF16A2C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0B7A5C-D04D-7E8E-C81C-D158BA370CA5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AB48B2D-52B5-22BF-0CA7-1EB67B1DDD40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01F26F-0641-C67C-688B-26BA3BF3DD39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CD28E-2484-AA0B-A03A-B4E45ABF08BC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FBBBF34-F87D-C557-FCC3-3C4C0D6AB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12" y="2386590"/>
            <a:ext cx="6777422" cy="1715623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29FFFF24-8447-2642-C20A-33DCCBD9C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953" y="2386590"/>
            <a:ext cx="4577835" cy="2124624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BECF78-0094-ACC3-12AF-C952892B85DE}"/>
              </a:ext>
            </a:extLst>
          </p:cNvPr>
          <p:cNvSpPr txBox="1"/>
          <p:nvPr/>
        </p:nvSpPr>
        <p:spPr>
          <a:xfrm>
            <a:off x="7434953" y="1884912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4.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회원별</a:t>
            </a:r>
            <a:r>
              <a:rPr lang="ko-KR" altLang="en-US" sz="1200" dirty="0"/>
              <a:t> 찜 정보 가져오기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7BF0B3-D50C-5E73-51FD-AB13B3FD3A26}"/>
              </a:ext>
            </a:extLst>
          </p:cNvPr>
          <p:cNvSpPr txBox="1"/>
          <p:nvPr/>
        </p:nvSpPr>
        <p:spPr>
          <a:xfrm>
            <a:off x="179212" y="1884913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3.</a:t>
            </a:r>
            <a:r>
              <a:rPr lang="ko-KR" altLang="en-US" sz="1200" dirty="0"/>
              <a:t> 상세페이지 출력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B144C1C-3849-3E21-784C-DEFDEFA47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24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20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656A2387-1163-A47F-8D43-5417FF695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2" y="1711726"/>
            <a:ext cx="7002376" cy="2154578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CFEABFC-7044-44E9-3B42-A81840B775CE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E8078-F34F-4FC5-6524-FFA96F0931CF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C52B369-648B-AA8B-E5DF-E30666692787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249EF76-AF80-2B0E-04E8-64AE4BD76C05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BE31A-8280-358A-9023-02E1718EA504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BF4126-1DE8-94FB-E79E-5F5F5C5CF12C}"/>
              </a:ext>
            </a:extLst>
          </p:cNvPr>
          <p:cNvSpPr txBox="1"/>
          <p:nvPr/>
        </p:nvSpPr>
        <p:spPr>
          <a:xfrm>
            <a:off x="42052" y="1389007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5.</a:t>
            </a:r>
            <a:r>
              <a:rPr lang="ko-KR" altLang="en-US" sz="1200" dirty="0"/>
              <a:t> 리뷰 리스트 출력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775E940-D6B2-5622-B61A-1B7D84AA6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963" y="4253031"/>
            <a:ext cx="7301058" cy="2154578"/>
          </a:xfrm>
          <a:prstGeom prst="rect">
            <a:avLst/>
          </a:prstGeom>
          <a:ln>
            <a:noFill/>
          </a:ln>
          <a:effectLst>
            <a:outerShdw blurRad="50800" algn="tl" rotWithShape="0">
              <a:srgbClr val="000000">
                <a:alpha val="70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FC3A92-54F1-9800-D182-2DB625178B32}"/>
              </a:ext>
            </a:extLst>
          </p:cNvPr>
          <p:cNvSpPr txBox="1"/>
          <p:nvPr/>
        </p:nvSpPr>
        <p:spPr>
          <a:xfrm>
            <a:off x="4844963" y="3912024"/>
            <a:ext cx="38715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6.</a:t>
            </a:r>
            <a:r>
              <a:rPr lang="ko-KR" altLang="en-US" sz="1200" dirty="0"/>
              <a:t> </a:t>
            </a:r>
            <a:r>
              <a:rPr lang="ko-KR" altLang="en-US" sz="1200" dirty="0" err="1"/>
              <a:t>회원별</a:t>
            </a:r>
            <a:r>
              <a:rPr lang="ko-KR" altLang="en-US" sz="1200" dirty="0"/>
              <a:t> 찜 수정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A1C1F3B-2CC4-2261-F003-85394FF7B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25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5118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그룹 18">
            <a:extLst>
              <a:ext uri="{FF2B5EF4-FFF2-40B4-BE49-F238E27FC236}">
                <a16:creationId xmlns:a16="http://schemas.microsoft.com/office/drawing/2014/main" id="{D86EB800-A46D-A76C-6F3F-992ACD41F891}"/>
              </a:ext>
            </a:extLst>
          </p:cNvPr>
          <p:cNvGrpSpPr/>
          <p:nvPr/>
        </p:nvGrpSpPr>
        <p:grpSpPr>
          <a:xfrm>
            <a:off x="1246632" y="1884913"/>
            <a:ext cx="9698736" cy="3229830"/>
            <a:chOff x="1157620" y="1884913"/>
            <a:chExt cx="9698736" cy="322983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FA2FA94-EDA9-0EFA-070C-99A093BE7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7620" y="2358189"/>
              <a:ext cx="9698736" cy="2756554"/>
            </a:xfrm>
            <a:prstGeom prst="rect">
              <a:avLst/>
            </a:prstGeom>
            <a:ln>
              <a:noFill/>
            </a:ln>
            <a:effectLst>
              <a:outerShdw blurRad="50800" algn="tl" rotWithShape="0">
                <a:srgbClr val="000000">
                  <a:alpha val="70000"/>
                </a:srgbClr>
              </a:outerShdw>
            </a:effectLst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0EFB2E8-3188-1328-A001-3D1EA11CECF1}"/>
                </a:ext>
              </a:extLst>
            </p:cNvPr>
            <p:cNvSpPr txBox="1"/>
            <p:nvPr/>
          </p:nvSpPr>
          <p:spPr>
            <a:xfrm>
              <a:off x="1157620" y="1884913"/>
              <a:ext cx="387157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7.</a:t>
              </a:r>
              <a:r>
                <a:rPr lang="ko-KR" altLang="en-US" sz="1200" dirty="0"/>
                <a:t> 리뷰 작성</a:t>
              </a:r>
            </a:p>
          </p:txBody>
        </p:sp>
      </p:grpSp>
      <p:sp>
        <p:nvSpPr>
          <p:cNvPr id="5" name="직사각형 4">
            <a:extLst>
              <a:ext uri="{FF2B5EF4-FFF2-40B4-BE49-F238E27FC236}">
                <a16:creationId xmlns:a16="http://schemas.microsoft.com/office/drawing/2014/main" id="{F5AA5A4B-E61E-BFBB-D0CE-547B43F6AB6D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3FF2F8-8EB8-A936-0F99-16AD1CE53AE5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  <a:ea typeface="맑은 고딕"/>
              </a:rPr>
              <a:t>프로젝트 다이어그램</a:t>
            </a:r>
            <a:endParaRPr lang="ko-KR" altLang="en-US" sz="2000" b="1" dirty="0">
              <a:solidFill>
                <a:srgbClr val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B48C8DE-986C-A9A6-5AD4-5F561C1FA1EE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2A7808-28EE-B821-DDB1-22CEBC4B70B7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21B353-3169-4829-CEE1-2E2D65D8D4C2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여행지 추천 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 </a:t>
            </a:r>
            <a:r>
              <a:rPr lang="ko-KR" altLang="en-US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성지석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F7C4FC0-C69D-14B3-832B-A64AEA76A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26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51862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07D91-8B1D-58EF-0737-6BA4B6910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DE716C4C-BAD8-D062-935E-B23B025EFF43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F53E6821-6395-A4EE-D738-0A59CC839FEE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8E59E35-9748-B465-70DE-C614CEBD02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2369783"/>
              </p:ext>
            </p:extLst>
          </p:nvPr>
        </p:nvGraphicFramePr>
        <p:xfrm>
          <a:off x="633469" y="2028939"/>
          <a:ext cx="8168640" cy="1794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168640">
                  <a:extLst>
                    <a:ext uri="{9D8B030D-6E8A-4147-A177-3AD203B41FA5}">
                      <a16:colId xmlns:a16="http://schemas.microsoft.com/office/drawing/2014/main" val="4216846973"/>
                    </a:ext>
                  </a:extLst>
                </a:gridCol>
              </a:tblGrid>
              <a:tr h="10125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7200" b="0" dirty="0">
                          <a:solidFill>
                            <a:srgbClr val="0070C0"/>
                          </a:solidFill>
                        </a:rPr>
                        <a:t>0</a:t>
                      </a:r>
                      <a:r>
                        <a:rPr lang="en-US" altLang="ko-KR" sz="7200" b="0" dirty="0">
                          <a:solidFill>
                            <a:srgbClr val="0070C0"/>
                          </a:solidFill>
                        </a:rPr>
                        <a:t>6</a:t>
                      </a:r>
                      <a:endParaRPr lang="ko-KR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576282"/>
                  </a:ext>
                </a:extLst>
              </a:tr>
              <a:tr h="60542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b="1" dirty="0">
                          <a:solidFill>
                            <a:srgbClr val="0070C0"/>
                          </a:solidFill>
                        </a:rPr>
                        <a:t>시연 영상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8123082"/>
                  </a:ext>
                </a:extLst>
              </a:tr>
            </a:tbl>
          </a:graphicData>
        </a:graphic>
      </p:graphicFrame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20CF71F-628F-E82C-286B-686D9CA83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0259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15A25CA-A2E9-5B4B-0D5B-278A0FB82189}"/>
              </a:ext>
            </a:extLst>
          </p:cNvPr>
          <p:cNvSpPr/>
          <p:nvPr/>
        </p:nvSpPr>
        <p:spPr>
          <a:xfrm>
            <a:off x="179212" y="470481"/>
            <a:ext cx="129913" cy="45136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9534B-4E49-4A82-A075-12C14E638BE3}"/>
              </a:ext>
            </a:extLst>
          </p:cNvPr>
          <p:cNvSpPr txBox="1"/>
          <p:nvPr/>
        </p:nvSpPr>
        <p:spPr>
          <a:xfrm>
            <a:off x="304095" y="501543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altLang="en-US" sz="2000" b="1" dirty="0">
                <a:solidFill>
                  <a:srgbClr val="0070C0"/>
                </a:solidFill>
              </a:rPr>
              <a:t>프로젝트 시연 영상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E33F2BD-C4AF-EB71-65E7-B432AF666583}"/>
              </a:ext>
            </a:extLst>
          </p:cNvPr>
          <p:cNvSpPr/>
          <p:nvPr/>
        </p:nvSpPr>
        <p:spPr>
          <a:xfrm>
            <a:off x="-1260" y="6499951"/>
            <a:ext cx="12194893" cy="35968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4EAEB8-AF04-173B-3A84-3CDD403D2F8B}"/>
              </a:ext>
            </a:extLst>
          </p:cNvPr>
          <p:cNvSpPr/>
          <p:nvPr/>
        </p:nvSpPr>
        <p:spPr>
          <a:xfrm>
            <a:off x="-1259" y="0"/>
            <a:ext cx="12193259" cy="3596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92896D-2230-7630-8203-FC8ADB6EC849}"/>
              </a:ext>
            </a:extLst>
          </p:cNvPr>
          <p:cNvSpPr txBox="1"/>
          <p:nvPr/>
        </p:nvSpPr>
        <p:spPr>
          <a:xfrm>
            <a:off x="304094" y="1052386"/>
            <a:ext cx="274319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1400" dirty="0" err="1">
                <a:solidFill>
                  <a:schemeClr val="bg1">
                    <a:lumMod val="49000"/>
                  </a:schemeClr>
                </a:solidFill>
                <a:ea typeface="맑은 고딕"/>
              </a:rPr>
              <a:t>Bycicle</a:t>
            </a:r>
            <a:r>
              <a:rPr lang="en-US" altLang="ko-KR" sz="1400" dirty="0">
                <a:solidFill>
                  <a:schemeClr val="bg1">
                    <a:lumMod val="49000"/>
                  </a:schemeClr>
                </a:solidFill>
                <a:ea typeface="맑은 고딕"/>
              </a:rPr>
              <a:t>-App</a:t>
            </a:r>
            <a:endParaRPr lang="ko-KR" altLang="en-US" sz="1400" dirty="0">
              <a:solidFill>
                <a:schemeClr val="bg1">
                  <a:lumMod val="49000"/>
                </a:schemeClr>
              </a:solidFill>
              <a:ea typeface="맑은 고딕"/>
            </a:endParaRPr>
          </a:p>
        </p:txBody>
      </p:sp>
      <p:sp>
        <p:nvSpPr>
          <p:cNvPr id="13" name="슬라이드 번호 개체 틀 2">
            <a:extLst>
              <a:ext uri="{FF2B5EF4-FFF2-40B4-BE49-F238E27FC236}">
                <a16:creationId xmlns:a16="http://schemas.microsoft.com/office/drawing/2014/main" id="{01D24449-81B9-19F6-A058-EF2080D5F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>
                <a:solidFill>
                  <a:schemeClr val="bg1"/>
                </a:solidFill>
              </a:rPr>
              <a:t>28</a:t>
            </a:fld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AE122B-BBE9-5A02-7F93-D4A646C04E4F}"/>
              </a:ext>
            </a:extLst>
          </p:cNvPr>
          <p:cNvSpPr txBox="1"/>
          <p:nvPr/>
        </p:nvSpPr>
        <p:spPr>
          <a:xfrm>
            <a:off x="4957077" y="3244334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링크 주소 또는 영상</a:t>
            </a:r>
          </a:p>
        </p:txBody>
      </p:sp>
    </p:spTree>
    <p:extLst>
      <p:ext uri="{BB962C8B-B14F-4D97-AF65-F5344CB8AC3E}">
        <p14:creationId xmlns:p14="http://schemas.microsoft.com/office/powerpoint/2010/main" val="26263441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3D7FB-687D-8D8F-8D17-B433137F3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2BBB7CE5-7F65-0A83-A972-339F505C7B54}"/>
              </a:ext>
            </a:extLst>
          </p:cNvPr>
          <p:cNvSpPr/>
          <p:nvPr/>
        </p:nvSpPr>
        <p:spPr>
          <a:xfrm>
            <a:off x="-4931" y="-3672"/>
            <a:ext cx="12194893" cy="6859634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각 삼각형 6">
            <a:extLst>
              <a:ext uri="{FF2B5EF4-FFF2-40B4-BE49-F238E27FC236}">
                <a16:creationId xmlns:a16="http://schemas.microsoft.com/office/drawing/2014/main" id="{C311464E-583D-F384-2A99-AA9D18BF94A7}"/>
              </a:ext>
            </a:extLst>
          </p:cNvPr>
          <p:cNvSpPr/>
          <p:nvPr/>
        </p:nvSpPr>
        <p:spPr>
          <a:xfrm rot="10800000">
            <a:off x="7921705" y="2136"/>
            <a:ext cx="4270546" cy="2189916"/>
          </a:xfrm>
          <a:prstGeom prst="rt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9FD290-79C0-0DE5-CEB2-51A66B4E828B}"/>
              </a:ext>
            </a:extLst>
          </p:cNvPr>
          <p:cNvSpPr txBox="1">
            <a:spLocks/>
          </p:cNvSpPr>
          <p:nvPr/>
        </p:nvSpPr>
        <p:spPr>
          <a:xfrm>
            <a:off x="1163822" y="2232345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8800" b="1" dirty="0">
                <a:solidFill>
                  <a:srgbClr val="0070C0"/>
                </a:solidFill>
                <a:ea typeface="맑은 고딕"/>
              </a:rPr>
              <a:t>Thank you</a:t>
            </a:r>
            <a:endParaRPr lang="ko-KR" altLang="en-US" sz="8800" b="1" dirty="0">
              <a:solidFill>
                <a:srgbClr val="0070C0"/>
              </a:solidFill>
              <a:ea typeface="맑은 고딕"/>
            </a:endParaRPr>
          </a:p>
        </p:txBody>
      </p:sp>
      <p:sp>
        <p:nvSpPr>
          <p:cNvPr id="4" name="슬라이드 번호 개체 틀 2">
            <a:extLst>
              <a:ext uri="{FF2B5EF4-FFF2-40B4-BE49-F238E27FC236}">
                <a16:creationId xmlns:a16="http://schemas.microsoft.com/office/drawing/2014/main" id="{4CD50A18-2A24-D837-9429-63AC6A1C5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875"/>
            <a:ext cx="2743200" cy="365125"/>
          </a:xfrm>
        </p:spPr>
        <p:txBody>
          <a:bodyPr/>
          <a:lstStyle/>
          <a:p>
            <a:fld id="{836B6DB3-44B8-41C4-A846-21F6C6172237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71475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691</Words>
  <Application>Microsoft Office PowerPoint</Application>
  <PresentationFormat>와이드스크린</PresentationFormat>
  <Paragraphs>219</Paragraphs>
  <Slides>29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연결</vt:lpstr>
      </vt:variant>
      <vt:variant>
        <vt:i4>3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맑은 고딕</vt:lpstr>
      <vt:lpstr>Arial</vt:lpstr>
      <vt:lpstr>Office 테마</vt:lpstr>
      <vt:lpstr>C:\dev\teamproject\WBS_2025_12_05_최종.xlsx</vt:lpstr>
      <vt:lpstr>C:\dev\teamproject\기능명세서_2025-12-05_최종.xlsx</vt:lpstr>
      <vt:lpstr>C:\dev\teamproject\테이블명세서_2025-12-05_최종.docx</vt:lpstr>
      <vt:lpstr>TJG아카데미 7기 최종발표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TJ</cp:lastModifiedBy>
  <cp:revision>12</cp:revision>
  <dcterms:created xsi:type="dcterms:W3CDTF">2025-12-15T07:46:10Z</dcterms:created>
  <dcterms:modified xsi:type="dcterms:W3CDTF">2025-12-17T09:16:44Z</dcterms:modified>
</cp:coreProperties>
</file>